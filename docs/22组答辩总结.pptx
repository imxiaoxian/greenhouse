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7" r:id="rId3"/>
    <p:sldId id="257" r:id="rId4"/>
    <p:sldId id="258" r:id="rId5"/>
    <p:sldId id="259" r:id="rId6"/>
    <p:sldId id="263" r:id="rId7"/>
    <p:sldId id="311" r:id="rId8"/>
    <p:sldId id="261" r:id="rId9"/>
    <p:sldId id="285" r:id="rId10"/>
    <p:sldId id="288" r:id="rId11"/>
    <p:sldId id="289" r:id="rId12"/>
    <p:sldId id="290" r:id="rId13"/>
    <p:sldId id="291" r:id="rId14"/>
    <p:sldId id="271" r:id="rId15"/>
    <p:sldId id="295" r:id="rId16"/>
    <p:sldId id="296" r:id="rId17"/>
    <p:sldId id="310" r:id="rId18"/>
    <p:sldId id="265" r:id="rId19"/>
    <p:sldId id="262" r:id="rId20"/>
    <p:sldId id="297" r:id="rId21"/>
    <p:sldId id="298" r:id="rId22"/>
    <p:sldId id="279" r:id="rId23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24BEC6"/>
    <a:srgbClr val="1958A3"/>
    <a:srgbClr val="0879A3"/>
    <a:srgbClr val="398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5" autoAdjust="0"/>
    <p:restoredTop sz="94558" autoAdjust="0"/>
  </p:normalViewPr>
  <p:slideViewPr>
    <p:cSldViewPr snapToGrid="0" showGuides="1">
      <p:cViewPr varScale="1">
        <p:scale>
          <a:sx n="98" d="100"/>
          <a:sy n="98" d="100"/>
        </p:scale>
        <p:origin x="552" y="60"/>
      </p:cViewPr>
      <p:guideLst>
        <p:guide orient="horz" pos="2160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7DEDFB-6A84-43C8-B210-1FC0930A3D80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DF777-A8BD-414C-AA11-46426531364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3C7A-EAD0-4298-9BB1-681580D334DD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2FC-86B8-48D4-A908-30D626EBF9D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3C7A-EAD0-4298-9BB1-681580D334DD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5A2FC-86B8-48D4-A908-30D626EBF9D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/>
          <p:cNvSpPr/>
          <p:nvPr userDrawn="1"/>
        </p:nvSpPr>
        <p:spPr>
          <a:xfrm>
            <a:off x="1621894" y="-634912"/>
            <a:ext cx="1567884" cy="1567884"/>
          </a:xfrm>
          <a:prstGeom prst="ellipse">
            <a:avLst/>
          </a:pr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B8AFE-F65A-43D3-92D3-D86C63BE3EE1}" type="datetimeFigureOut">
              <a:rPr lang="zh-CN" altLang="en-US"/>
              <a:t>2024/7/20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DF606-CE21-48EE-9765-BB9210975D0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</p:sldLayoutIdLst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slideLayout" Target="../slideLayouts/slideLayout7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notesSlide" Target="../notesSlides/notes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003635" y="2335855"/>
            <a:ext cx="184730" cy="98610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2000"/>
              </a:lnSpc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9590" y="2220595"/>
            <a:ext cx="8804910" cy="2122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智慧大棚农业管理系统</a:t>
            </a:r>
            <a:endParaRPr lang="zh-CN" altLang="en-US" sz="6600" dirty="0">
              <a:solidFill>
                <a:schemeClr val="tx1">
                  <a:lumMod val="75000"/>
                  <a:lumOff val="25000"/>
                </a:schemeClr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项目答辩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838093" y="4645390"/>
            <a:ext cx="4064000" cy="1727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组别：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22</a:t>
            </a:r>
            <a:r>
              <a:rPr lang="zh-CN" altLang="en-US" dirty="0">
                <a:ea typeface="宋体" panose="02010600030101010101" pitchFamily="2" charset="-122"/>
              </a:rPr>
              <a:t>组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组长：李诺贤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组员：孙广奇</a:t>
            </a:r>
          </a:p>
          <a:p>
            <a:pPr indent="457200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zh-CN" altLang="en-US" dirty="0">
                <a:ea typeface="宋体" panose="02010600030101010101" pitchFamily="2" charset="-122"/>
              </a:rPr>
              <a:t>姚嘉峻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192405" y="273050"/>
            <a:ext cx="11511280" cy="6210935"/>
            <a:chOff x="536" y="509"/>
            <a:chExt cx="18128" cy="9781"/>
          </a:xfrm>
        </p:grpSpPr>
        <p:sp>
          <p:nvSpPr>
            <p:cNvPr id="71" name="对角圆角矩形 70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1120" y="934"/>
              <a:ext cx="6699" cy="725"/>
              <a:chOff x="1120" y="934"/>
              <a:chExt cx="6699" cy="725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2050" y="934"/>
                <a:ext cx="228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任务分工</a:t>
                </a:r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4339" y="1056"/>
                <a:ext cx="3480" cy="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" name="Text Box 1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834765" y="2116455"/>
            <a:ext cx="6700520" cy="2679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0960" tIns="30480" rIns="60960" bIns="3048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450975">
              <a:lnSpc>
                <a:spcPct val="162000"/>
              </a:lnSpc>
              <a:defRPr/>
            </a:pPr>
            <a:endParaRPr kumimoji="0" lang="zh-CN" altLang="en-US" sz="2000" b="0" i="0" u="none" strike="noStrike" cap="none" spc="0" normalizeH="0" baseline="0" dirty="0">
              <a:solidFill>
                <a:schemeClr val="tx1">
                  <a:lumMod val="75000"/>
                  <a:lumOff val="25000"/>
                </a:schemeClr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38" name="弧形 37"/>
          <p:cNvSpPr/>
          <p:nvPr/>
        </p:nvSpPr>
        <p:spPr>
          <a:xfrm rot="5400000">
            <a:off x="-2978785" y="1428750"/>
            <a:ext cx="5560695" cy="4958080"/>
          </a:xfrm>
          <a:prstGeom prst="arc">
            <a:avLst>
              <a:gd name="adj1" fmla="val 13064533"/>
              <a:gd name="adj2" fmla="val 19396936"/>
            </a:avLst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2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983355" y="1930396"/>
            <a:ext cx="685800" cy="74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2000"/>
              </a:lnSpc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1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110355" y="2057396"/>
            <a:ext cx="685800" cy="742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2000"/>
              </a:lnSpc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1</a:t>
            </a:r>
          </a:p>
        </p:txBody>
      </p:sp>
      <p:sp>
        <p:nvSpPr>
          <p:cNvPr id="9" name="椭圆 8"/>
          <p:cNvSpPr/>
          <p:nvPr/>
        </p:nvSpPr>
        <p:spPr>
          <a:xfrm>
            <a:off x="1558290" y="2147570"/>
            <a:ext cx="643890" cy="652145"/>
          </a:xfrm>
          <a:prstGeom prst="ellipse">
            <a:avLst/>
          </a:prstGeom>
          <a:solidFill>
            <a:srgbClr val="A6A6A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962785" y="3504565"/>
            <a:ext cx="643890" cy="652145"/>
          </a:xfrm>
          <a:prstGeom prst="ellipse">
            <a:avLst/>
          </a:prstGeom>
          <a:solidFill>
            <a:srgbClr val="A6A6A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637030" y="4930775"/>
            <a:ext cx="643890" cy="652145"/>
          </a:xfrm>
          <a:prstGeom prst="ellipse">
            <a:avLst/>
          </a:prstGeom>
          <a:solidFill>
            <a:srgbClr val="A6A6A6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"/>
            </p:custDataLst>
          </p:nvPr>
        </p:nvSpPr>
        <p:spPr>
          <a:xfrm>
            <a:off x="2826385" y="1805305"/>
            <a:ext cx="63855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李诺贤：组长，负责天气信息的爬取</a:t>
            </a:r>
            <a:r>
              <a:rPr lang="zh-CN" altLang="en-US" sz="2000" dirty="0"/>
              <a:t>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模型的调用，实时监测功能的编写。</a:t>
            </a:r>
          </a:p>
        </p:txBody>
      </p:sp>
      <p:sp>
        <p:nvSpPr>
          <p:cNvPr id="36" name="文本框 35"/>
          <p:cNvSpPr txBox="1"/>
          <p:nvPr>
            <p:custDataLst>
              <p:tags r:id="rId5"/>
            </p:custDataLst>
          </p:nvPr>
        </p:nvSpPr>
        <p:spPr>
          <a:xfrm>
            <a:off x="3002915" y="3429000"/>
            <a:ext cx="69119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孙广奇：负责网页界面的设计，数据的可视化展示，</a:t>
            </a:r>
          </a:p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各个模块的整合。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826385" y="4930775"/>
            <a:ext cx="7919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姚嘉峻：大棚数据的获取，所有数据的分析，处理，病虫害处理功能的实现。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"/>
          <p:cNvSpPr txBox="1"/>
          <p:nvPr/>
        </p:nvSpPr>
        <p:spPr>
          <a:xfrm>
            <a:off x="4015666" y="1288818"/>
            <a:ext cx="415996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C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ONTENTS</a:t>
            </a:r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157624" y="3683000"/>
            <a:ext cx="4027495" cy="851887"/>
            <a:chOff x="9561" y="4249"/>
            <a:chExt cx="6343" cy="1342"/>
          </a:xfrm>
        </p:grpSpPr>
        <p:sp>
          <p:nvSpPr>
            <p:cNvPr id="18" name="椭圆 17"/>
            <p:cNvSpPr/>
            <p:nvPr>
              <p:custDataLst>
                <p:tags r:id="rId10"/>
              </p:custDataLst>
            </p:nvPr>
          </p:nvSpPr>
          <p:spPr>
            <a:xfrm>
              <a:off x="9561" y="4362"/>
              <a:ext cx="1024" cy="1024"/>
            </a:xfrm>
            <a:prstGeom prst="ellipse">
              <a:avLst/>
            </a:prstGeom>
            <a:solidFill>
              <a:schemeClr val="accent6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2</a:t>
              </a:r>
            </a:p>
          </p:txBody>
        </p:sp>
        <p:sp>
          <p:nvSpPr>
            <p:cNvPr id="22" name="矩形 2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060" y="4249"/>
              <a:ext cx="4844" cy="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项目内容</a:t>
              </a:r>
            </a:p>
          </p:txBody>
        </p:sp>
        <p:sp>
          <p:nvSpPr>
            <p:cNvPr id="25" name="矩形 24"/>
            <p:cNvSpPr/>
            <p:nvPr>
              <p:custDataLst>
                <p:tags r:id="rId12"/>
              </p:custDataLst>
            </p:nvPr>
          </p:nvSpPr>
          <p:spPr>
            <a:xfrm>
              <a:off x="11075" y="5128"/>
              <a:ext cx="4209" cy="4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32000"/>
                </a:lnSpc>
              </a:pPr>
              <a:endParaRPr lang="en-US" altLang="zh-CN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2202180" y="2480945"/>
            <a:ext cx="4003040" cy="836295"/>
            <a:chOff x="2385" y="4249"/>
            <a:chExt cx="6304" cy="1317"/>
          </a:xfrm>
        </p:grpSpPr>
        <p:sp>
          <p:nvSpPr>
            <p:cNvPr id="17" name="椭圆 16"/>
            <p:cNvSpPr/>
            <p:nvPr>
              <p:custDataLst>
                <p:tags r:id="rId7"/>
              </p:custDataLst>
            </p:nvPr>
          </p:nvSpPr>
          <p:spPr>
            <a:xfrm>
              <a:off x="2385" y="4362"/>
              <a:ext cx="1024" cy="1024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1</a:t>
              </a:r>
            </a:p>
          </p:txBody>
        </p:sp>
        <p:sp>
          <p:nvSpPr>
            <p:cNvPr id="21" name="矩形 20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845" y="4249"/>
              <a:ext cx="4844" cy="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项目意义 </a:t>
              </a:r>
            </a:p>
          </p:txBody>
        </p:sp>
        <p:sp>
          <p:nvSpPr>
            <p:cNvPr id="26" name="矩形 25"/>
            <p:cNvSpPr/>
            <p:nvPr>
              <p:custDataLst>
                <p:tags r:id="rId9"/>
              </p:custDataLst>
            </p:nvPr>
          </p:nvSpPr>
          <p:spPr>
            <a:xfrm>
              <a:off x="3872" y="5103"/>
              <a:ext cx="4513" cy="4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>
                <a:lnSpc>
                  <a:spcPct val="132000"/>
                </a:lnSpc>
              </a:pP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>
            <a:off x="2185035" y="4872166"/>
            <a:ext cx="4020185" cy="821055"/>
            <a:chOff x="2385" y="6637"/>
            <a:chExt cx="6331" cy="1293"/>
          </a:xfrm>
        </p:grpSpPr>
        <p:sp>
          <p:nvSpPr>
            <p:cNvPr id="19" name="椭圆 18"/>
            <p:cNvSpPr/>
            <p:nvPr>
              <p:custDataLst>
                <p:tags r:id="rId4"/>
              </p:custDataLst>
            </p:nvPr>
          </p:nvSpPr>
          <p:spPr>
            <a:xfrm>
              <a:off x="2385" y="6800"/>
              <a:ext cx="1024" cy="1024"/>
            </a:xfrm>
            <a:prstGeom prst="ellipse">
              <a:avLst/>
            </a:prstGeom>
            <a:solidFill>
              <a:schemeClr val="accent6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3</a:t>
              </a:r>
            </a:p>
          </p:txBody>
        </p:sp>
        <p:sp>
          <p:nvSpPr>
            <p:cNvPr id="23" name="矩形 2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872" y="6637"/>
              <a:ext cx="4844" cy="1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2000"/>
                </a:lnSpc>
              </a:pPr>
              <a:r>
                <a:rPr lang="zh-CN" altLang="en-US" sz="2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项目亮点</a:t>
              </a:r>
            </a:p>
          </p:txBody>
        </p:sp>
        <p:sp>
          <p:nvSpPr>
            <p:cNvPr id="27" name="矩形 26"/>
            <p:cNvSpPr/>
            <p:nvPr>
              <p:custDataLst>
                <p:tags r:id="rId6"/>
              </p:custDataLst>
            </p:nvPr>
          </p:nvSpPr>
          <p:spPr>
            <a:xfrm>
              <a:off x="3899" y="7467"/>
              <a:ext cx="4144" cy="4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32000"/>
                </a:lnSpc>
              </a:pPr>
              <a:endParaRPr lang="en-US" altLang="zh-CN" sz="10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</p:grpSp>
      <p:sp>
        <p:nvSpPr>
          <p:cNvPr id="15" name="文本框 1"/>
          <p:cNvSpPr txBox="1"/>
          <p:nvPr/>
        </p:nvSpPr>
        <p:spPr>
          <a:xfrm>
            <a:off x="5093335" y="367030"/>
            <a:ext cx="2005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目录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97195" y="1910715"/>
            <a:ext cx="1197610" cy="12026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69875" tIns="136525" rIns="269875" bIns="136525" rtlCol="0" anchor="ctr" anchorCtr="1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1</a:t>
            </a:r>
          </a:p>
        </p:txBody>
      </p:sp>
      <p:sp>
        <p:nvSpPr>
          <p:cNvPr id="3" name="矩形 2"/>
          <p:cNvSpPr/>
          <p:nvPr/>
        </p:nvSpPr>
        <p:spPr>
          <a:xfrm>
            <a:off x="4607561" y="3113472"/>
            <a:ext cx="2976880" cy="118745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32000"/>
              </a:lnSpc>
            </a:pPr>
            <a:r>
              <a:rPr lang="zh-CN" altLang="en-US" sz="5400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项目意义</a:t>
            </a:r>
          </a:p>
        </p:txBody>
      </p:sp>
      <p:sp>
        <p:nvSpPr>
          <p:cNvPr id="4" name="矩形 3"/>
          <p:cNvSpPr/>
          <p:nvPr/>
        </p:nvSpPr>
        <p:spPr>
          <a:xfrm>
            <a:off x="3668083" y="4362735"/>
            <a:ext cx="4855835" cy="4152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32000"/>
              </a:lnSpc>
            </a:pP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40360" y="323850"/>
            <a:ext cx="8865870" cy="6210935"/>
            <a:chOff x="536" y="509"/>
            <a:chExt cx="14467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4467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82000"/>
                </a:lnSpc>
              </a:pPr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851"/>
              <a:ext cx="7140" cy="725"/>
              <a:chOff x="1120" y="851"/>
              <a:chExt cx="7140" cy="725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2094" y="851"/>
                <a:ext cx="4028" cy="4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32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项目意义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1597025" y="1315085"/>
            <a:ext cx="5734050" cy="5963920"/>
            <a:chOff x="-3513465" y="3255922"/>
            <a:chExt cx="5255893" cy="5964372"/>
          </a:xfrm>
        </p:grpSpPr>
        <p:sp>
          <p:nvSpPr>
            <p:cNvPr id="49" name="文本框 30"/>
            <p:cNvSpPr txBox="1"/>
            <p:nvPr/>
          </p:nvSpPr>
          <p:spPr>
            <a:xfrm>
              <a:off x="-3513465" y="3255922"/>
              <a:ext cx="4383408" cy="5964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2000"/>
                </a:lnSpc>
              </a:pPr>
              <a:r>
                <a:rPr lang="zh-CN" altLang="en-US" sz="2000" dirty="0">
                  <a:solidFill>
                    <a:schemeClr val="tx1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市场背景：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随着全球人口的增长和食品需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  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求的增加，传统农业生产方式已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经难以满足高效、安全、环保的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需求。新兴前沿技术为智慧农业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的发展提供强有力的技术支撑。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智能大棚农业管理系统可以提高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农业生产效率和质量。</a:t>
              </a:r>
            </a:p>
            <a:p>
              <a:pPr>
                <a:lnSpc>
                  <a:spcPct val="122000"/>
                </a:lnSpc>
              </a:pP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  <a:p>
              <a:pPr>
                <a:lnSpc>
                  <a:spcPct val="122000"/>
                </a:lnSpc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项目意义：帮助农民实时监控作物健康、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获取天气情况及大棚环境信息，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并提供优灌溉和施肥策略，从而</a:t>
              </a:r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		</a:t>
              </a: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提高产量和资源利用效率。</a:t>
              </a:r>
            </a:p>
            <a:p>
              <a:pPr>
                <a:lnSpc>
                  <a:spcPct val="182000"/>
                </a:lnSpc>
              </a:pP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  <a:p>
              <a:pPr>
                <a:lnSpc>
                  <a:spcPct val="132000"/>
                </a:lnSpc>
              </a:pP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  <a:p>
              <a:pPr>
                <a:lnSpc>
                  <a:spcPct val="132000"/>
                </a:lnSpc>
              </a:pP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sp>
          <p:nvSpPr>
            <p:cNvPr id="50" name="文本框 31"/>
            <p:cNvSpPr txBox="1"/>
            <p:nvPr/>
          </p:nvSpPr>
          <p:spPr>
            <a:xfrm>
              <a:off x="-2750694" y="3823827"/>
              <a:ext cx="4493122" cy="456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pPr>
                <a:lnSpc>
                  <a:spcPct val="132000"/>
                </a:lnSpc>
              </a:pPr>
              <a:endPara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</p:grpSp>
      <p:sp>
        <p:nvSpPr>
          <p:cNvPr id="100" name="矩形 99"/>
          <p:cNvSpPr/>
          <p:nvPr/>
        </p:nvSpPr>
        <p:spPr>
          <a:xfrm>
            <a:off x="1044575" y="2247265"/>
            <a:ext cx="141605" cy="277114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97195" y="1910715"/>
            <a:ext cx="1197610" cy="12026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69875" tIns="136525" rIns="269875" bIns="136525" rtlCol="0" anchor="ctr" anchorCtr="1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2</a:t>
            </a:r>
          </a:p>
        </p:txBody>
      </p:sp>
      <p:sp>
        <p:nvSpPr>
          <p:cNvPr id="5" name="矩形 4"/>
          <p:cNvSpPr/>
          <p:nvPr/>
        </p:nvSpPr>
        <p:spPr>
          <a:xfrm>
            <a:off x="3604057" y="3295717"/>
            <a:ext cx="3954780" cy="9220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zh-CN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   </a:t>
            </a:r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项目内容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280035"/>
            <a:ext cx="11511280" cy="6210935"/>
            <a:chOff x="536" y="509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34"/>
              <a:ext cx="7140" cy="727"/>
              <a:chOff x="1120" y="934"/>
              <a:chExt cx="7140" cy="727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642" y="934"/>
                <a:ext cx="3825" cy="7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基本信息的填写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457849" y="4692245"/>
            <a:ext cx="4678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在该部分，我们提高了该系统的覆盖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面的广度。它可以支持全世界各个市，绝大部分品种和土壤类型。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F401C1-D274-458D-B629-A03FB167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685" y="1768891"/>
            <a:ext cx="6687799" cy="33202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5D1E239-E494-4967-992B-1FCA6700E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30" y="1231358"/>
            <a:ext cx="4161314" cy="267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3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>
        <p:random/>
      </p:transition>
    </mc:Choice>
    <mc:Fallback>
      <p:transition spd="slow" advTm="1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280035"/>
            <a:ext cx="11511280" cy="6210935"/>
            <a:chOff x="536" y="509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34"/>
              <a:ext cx="7140" cy="642"/>
              <a:chOff x="1120" y="934"/>
              <a:chExt cx="7140" cy="64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664" y="934"/>
                <a:ext cx="3788" cy="2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传感器数据收集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548640" y="2973070"/>
            <a:ext cx="467868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在该部分，我们编写了获取传感器数据的代码，代码每隔一小时运行一次，并将收集到的数据保存在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xlsx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和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csv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文件中。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由于条件的限制，我们根据实际情况，进行了数据的模拟，编写了包含一周数据的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excel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文件，作为大棚环境的数据。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21765"/>
            <a:ext cx="4102735" cy="1190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45" y="880745"/>
            <a:ext cx="5399405" cy="4552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280035"/>
            <a:ext cx="11511280" cy="6210935"/>
            <a:chOff x="536" y="509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34"/>
              <a:ext cx="7140" cy="642"/>
              <a:chOff x="1120" y="934"/>
              <a:chExt cx="7140" cy="64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914" y="934"/>
                <a:ext cx="3288" cy="1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天气数据爬取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796290" y="1557655"/>
            <a:ext cx="46786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在该部分，我们在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openweathermap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网站上进行了天气信息的爬取，并将爬取下来的信息分为未来若干小时的天气，未来五天的每天的平均天气情况，以及当下的实时天气三个部分，分别用于系统的不同模块。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060" y="549910"/>
            <a:ext cx="4561205" cy="3651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280035"/>
            <a:ext cx="11511280" cy="6210935"/>
            <a:chOff x="536" y="509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34"/>
              <a:ext cx="7140" cy="642"/>
              <a:chOff x="1120" y="934"/>
              <a:chExt cx="7140" cy="64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914" y="934"/>
                <a:ext cx="3288" cy="1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天气数据展示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765175" y="1232535"/>
            <a:ext cx="446151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我们利用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streamlit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建立网页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,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并将获取的天气信息在网页上进行展示。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在该页面，用户可以获取未来几天所有的详细天气情况，也可通过选择日期，单独查看某日的天气信息。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810" y="1158875"/>
            <a:ext cx="6004560" cy="4591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5" y="3429000"/>
            <a:ext cx="4505325" cy="2883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280035"/>
            <a:ext cx="11511280" cy="6210935"/>
            <a:chOff x="536" y="509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34"/>
              <a:ext cx="7140" cy="642"/>
              <a:chOff x="1120" y="934"/>
              <a:chExt cx="7140" cy="64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2414" y="934"/>
                <a:ext cx="2288" cy="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实时监测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765175" y="1232535"/>
            <a:ext cx="446151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在该部分将对当下的实时天气和大棚环境进行数据展示。用户可以直观的获取信息。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85" y="2536825"/>
            <a:ext cx="4438650" cy="3373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330" y="1232535"/>
            <a:ext cx="6497320" cy="24263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29830" y="3957955"/>
            <a:ext cx="360997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部分代码图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417195"/>
            <a:ext cx="11511280" cy="6210935"/>
            <a:chOff x="536" y="725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725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677" y="934"/>
              <a:ext cx="7583" cy="925"/>
              <a:chOff x="677" y="934"/>
              <a:chExt cx="7583" cy="925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677" y="934"/>
                <a:ext cx="5761" cy="9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   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大棚情况可视化展示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765175" y="1232535"/>
            <a:ext cx="446151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在该部分对记录的一周的大棚数据，利用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streamlit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自带的绘图工具进行可视化动态展示。可以直观获取大棚环境的变化情况。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用户同时可以获取一周内大棚详细数据表，并可以选择日期单独查阅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775" y="626745"/>
            <a:ext cx="4577080" cy="51377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04430" y="59944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部分代码展示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75" y="3715385"/>
            <a:ext cx="4462145" cy="20872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323850"/>
            <a:ext cx="11511280" cy="6210935"/>
            <a:chOff x="536" y="578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78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1018"/>
              <a:ext cx="7140" cy="558"/>
              <a:chOff x="1120" y="1018"/>
              <a:chExt cx="7140" cy="558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2002" y="1018"/>
                <a:ext cx="1788" cy="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备忘录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765175" y="1232535"/>
            <a:ext cx="446151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在该部分，为系统增添备忘录功能。便于用户记录信息。用户可在此添加和删除备忘录。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700" y="603250"/>
            <a:ext cx="4518660" cy="5067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95515" y="5916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部分代码展示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85" y="2590165"/>
            <a:ext cx="5053330" cy="312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0360" y="323215"/>
            <a:ext cx="11511280" cy="6210935"/>
            <a:chOff x="536" y="509"/>
            <a:chExt cx="18128" cy="9781"/>
          </a:xfrm>
        </p:grpSpPr>
        <p:sp>
          <p:nvSpPr>
            <p:cNvPr id="3" name="对角圆角矩形 2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69" y="934"/>
              <a:ext cx="6950" cy="642"/>
              <a:chOff x="869" y="934"/>
              <a:chExt cx="6950" cy="642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869" y="934"/>
                <a:ext cx="4650" cy="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   AI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提供种植措施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39" y="1056"/>
                <a:ext cx="3480" cy="4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grpSp>
        <p:nvGrpSpPr>
          <p:cNvPr id="30" name="2944b901-a08d-4342-b02c-d36208ad4c5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58799" y="2512210"/>
            <a:ext cx="10866184" cy="3354702"/>
            <a:chOff x="654299" y="3171105"/>
            <a:chExt cx="10866184" cy="3354702"/>
          </a:xfrm>
        </p:grpSpPr>
        <p:sp>
          <p:nvSpPr>
            <p:cNvPr id="31" name="ï$liḓê"/>
            <p:cNvSpPr/>
            <p:nvPr/>
          </p:nvSpPr>
          <p:spPr>
            <a:xfrm>
              <a:off x="654299" y="3281045"/>
              <a:ext cx="10866184" cy="295909"/>
            </a:xfrm>
            <a:prstGeom prst="rightArrow">
              <a:avLst>
                <a:gd name="adj1" fmla="val 50000"/>
                <a:gd name="adj2" fmla="val 300464"/>
              </a:avLst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565">
                <a:lnSpc>
                  <a:spcPct val="132000"/>
                </a:lnSpc>
              </a:pPr>
              <a:endParaRPr lang="zh-CN" altLang="en-US" sz="2400" dirty="0">
                <a:solidFill>
                  <a:prstClr val="white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32" name="îṡ1íḍè"/>
            <p:cNvGrpSpPr/>
            <p:nvPr/>
          </p:nvGrpSpPr>
          <p:grpSpPr>
            <a:xfrm>
              <a:off x="2039358" y="3171105"/>
              <a:ext cx="537820" cy="537824"/>
              <a:chOff x="5371847" y="2312243"/>
              <a:chExt cx="656438" cy="656442"/>
            </a:xfrm>
          </p:grpSpPr>
          <p:sp>
            <p:nvSpPr>
              <p:cNvPr id="73" name="işlïḋê"/>
              <p:cNvSpPr/>
              <p:nvPr>
                <p:custDataLst>
                  <p:tags r:id="rId11"/>
                </p:custDataLst>
              </p:nvPr>
            </p:nvSpPr>
            <p:spPr>
              <a:xfrm>
                <a:off x="5371847" y="2312243"/>
                <a:ext cx="656438" cy="65644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7930">
                  <a:lnSpc>
                    <a:spcPct val="132000"/>
                  </a:lnSpc>
                </a:pPr>
                <a:endParaRPr lang="zh-CN" altLang="en-US" sz="2400" dirty="0">
                  <a:solidFill>
                    <a:prstClr val="white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74" name="îṡlîḓè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5532706" y="2519691"/>
                <a:ext cx="334720" cy="241545"/>
              </a:xfrm>
              <a:custGeom>
                <a:avLst/>
                <a:gdLst>
                  <a:gd name="connsiteX0" fmla="*/ 91000 w 605879"/>
                  <a:gd name="connsiteY0" fmla="*/ 173662 h 437224"/>
                  <a:gd name="connsiteX1" fmla="*/ 331193 w 605879"/>
                  <a:gd name="connsiteY1" fmla="*/ 173662 h 437224"/>
                  <a:gd name="connsiteX2" fmla="*/ 342454 w 605879"/>
                  <a:gd name="connsiteY2" fmla="*/ 184882 h 437224"/>
                  <a:gd name="connsiteX3" fmla="*/ 331193 w 605879"/>
                  <a:gd name="connsiteY3" fmla="*/ 196102 h 437224"/>
                  <a:gd name="connsiteX4" fmla="*/ 91000 w 605879"/>
                  <a:gd name="connsiteY4" fmla="*/ 196102 h 437224"/>
                  <a:gd name="connsiteX5" fmla="*/ 79739 w 605879"/>
                  <a:gd name="connsiteY5" fmla="*/ 184882 h 437224"/>
                  <a:gd name="connsiteX6" fmla="*/ 91000 w 605879"/>
                  <a:gd name="connsiteY6" fmla="*/ 173662 h 437224"/>
                  <a:gd name="connsiteX7" fmla="*/ 421630 w 605879"/>
                  <a:gd name="connsiteY7" fmla="*/ 131441 h 437224"/>
                  <a:gd name="connsiteX8" fmla="*/ 423552 w 605879"/>
                  <a:gd name="connsiteY8" fmla="*/ 152274 h 437224"/>
                  <a:gd name="connsiteX9" fmla="*/ 275961 w 605879"/>
                  <a:gd name="connsiteY9" fmla="*/ 300986 h 437224"/>
                  <a:gd name="connsiteX10" fmla="*/ 408175 w 605879"/>
                  <a:gd name="connsiteY10" fmla="*/ 358277 h 437224"/>
                  <a:gd name="connsiteX11" fmla="*/ 418060 w 605879"/>
                  <a:gd name="connsiteY11" fmla="*/ 365267 h 437224"/>
                  <a:gd name="connsiteX12" fmla="*/ 488218 w 605879"/>
                  <a:gd name="connsiteY12" fmla="*/ 410360 h 437224"/>
                  <a:gd name="connsiteX13" fmla="*/ 474214 w 605879"/>
                  <a:gd name="connsiteY13" fmla="*/ 363348 h 437224"/>
                  <a:gd name="connsiteX14" fmla="*/ 482039 w 605879"/>
                  <a:gd name="connsiteY14" fmla="*/ 349916 h 437224"/>
                  <a:gd name="connsiteX15" fmla="*/ 583363 w 605879"/>
                  <a:gd name="connsiteY15" fmla="*/ 244928 h 437224"/>
                  <a:gd name="connsiteX16" fmla="*/ 421630 w 605879"/>
                  <a:gd name="connsiteY16" fmla="*/ 131441 h 437224"/>
                  <a:gd name="connsiteX17" fmla="*/ 75898 w 605879"/>
                  <a:gd name="connsiteY17" fmla="*/ 120173 h 437224"/>
                  <a:gd name="connsiteX18" fmla="*/ 340509 w 605879"/>
                  <a:gd name="connsiteY18" fmla="*/ 120173 h 437224"/>
                  <a:gd name="connsiteX19" fmla="*/ 351769 w 605879"/>
                  <a:gd name="connsiteY19" fmla="*/ 131428 h 437224"/>
                  <a:gd name="connsiteX20" fmla="*/ 340509 w 605879"/>
                  <a:gd name="connsiteY20" fmla="*/ 142683 h 437224"/>
                  <a:gd name="connsiteX21" fmla="*/ 75898 w 605879"/>
                  <a:gd name="connsiteY21" fmla="*/ 142683 h 437224"/>
                  <a:gd name="connsiteX22" fmla="*/ 64638 w 605879"/>
                  <a:gd name="connsiteY22" fmla="*/ 131428 h 437224"/>
                  <a:gd name="connsiteX23" fmla="*/ 75898 w 605879"/>
                  <a:gd name="connsiteY23" fmla="*/ 120173 h 437224"/>
                  <a:gd name="connsiteX24" fmla="*/ 210609 w 605879"/>
                  <a:gd name="connsiteY24" fmla="*/ 22478 h 437224"/>
                  <a:gd name="connsiteX25" fmla="*/ 22516 w 605879"/>
                  <a:gd name="connsiteY25" fmla="*/ 153508 h 437224"/>
                  <a:gd name="connsiteX26" fmla="*/ 139216 w 605879"/>
                  <a:gd name="connsiteY26" fmla="*/ 274807 h 437224"/>
                  <a:gd name="connsiteX27" fmla="*/ 147042 w 605879"/>
                  <a:gd name="connsiteY27" fmla="*/ 288102 h 437224"/>
                  <a:gd name="connsiteX28" fmla="*/ 130017 w 605879"/>
                  <a:gd name="connsiteY28" fmla="*/ 344297 h 437224"/>
                  <a:gd name="connsiteX29" fmla="*/ 214041 w 605879"/>
                  <a:gd name="connsiteY29" fmla="*/ 291254 h 437224"/>
                  <a:gd name="connsiteX30" fmla="*/ 223927 w 605879"/>
                  <a:gd name="connsiteY30" fmla="*/ 284264 h 437224"/>
                  <a:gd name="connsiteX31" fmla="*/ 398839 w 605879"/>
                  <a:gd name="connsiteY31" fmla="*/ 152960 h 437224"/>
                  <a:gd name="connsiteX32" fmla="*/ 369596 w 605879"/>
                  <a:gd name="connsiteY32" fmla="*/ 80592 h 437224"/>
                  <a:gd name="connsiteX33" fmla="*/ 210609 w 605879"/>
                  <a:gd name="connsiteY33" fmla="*/ 22478 h 437224"/>
                  <a:gd name="connsiteX34" fmla="*/ 210609 w 605879"/>
                  <a:gd name="connsiteY34" fmla="*/ 0 h 437224"/>
                  <a:gd name="connsiteX35" fmla="*/ 385796 w 605879"/>
                  <a:gd name="connsiteY35" fmla="*/ 64967 h 437224"/>
                  <a:gd name="connsiteX36" fmla="*/ 414079 w 605879"/>
                  <a:gd name="connsiteY36" fmla="*/ 109100 h 437224"/>
                  <a:gd name="connsiteX37" fmla="*/ 419845 w 605879"/>
                  <a:gd name="connsiteY37" fmla="*/ 108963 h 437224"/>
                  <a:gd name="connsiteX38" fmla="*/ 605879 w 605879"/>
                  <a:gd name="connsiteY38" fmla="*/ 244928 h 437224"/>
                  <a:gd name="connsiteX39" fmla="*/ 498515 w 605879"/>
                  <a:gd name="connsiteY39" fmla="*/ 368420 h 437224"/>
                  <a:gd name="connsiteX40" fmla="*/ 516088 w 605879"/>
                  <a:gd name="connsiteY40" fmla="*/ 414609 h 437224"/>
                  <a:gd name="connsiteX41" fmla="*/ 522953 w 605879"/>
                  <a:gd name="connsiteY41" fmla="*/ 428178 h 437224"/>
                  <a:gd name="connsiteX42" fmla="*/ 510185 w 605879"/>
                  <a:gd name="connsiteY42" fmla="*/ 437224 h 437224"/>
                  <a:gd name="connsiteX43" fmla="*/ 400487 w 605879"/>
                  <a:gd name="connsiteY43" fmla="*/ 380344 h 437224"/>
                  <a:gd name="connsiteX44" fmla="*/ 250836 w 605879"/>
                  <a:gd name="connsiteY44" fmla="*/ 304275 h 437224"/>
                  <a:gd name="connsiteX45" fmla="*/ 231752 w 605879"/>
                  <a:gd name="connsiteY45" fmla="*/ 306331 h 437224"/>
                  <a:gd name="connsiteX46" fmla="*/ 107639 w 605879"/>
                  <a:gd name="connsiteY46" fmla="*/ 371161 h 437224"/>
                  <a:gd name="connsiteX47" fmla="*/ 94596 w 605879"/>
                  <a:gd name="connsiteY47" fmla="*/ 361978 h 437224"/>
                  <a:gd name="connsiteX48" fmla="*/ 102009 w 605879"/>
                  <a:gd name="connsiteY48" fmla="*/ 348135 h 437224"/>
                  <a:gd name="connsiteX49" fmla="*/ 122741 w 605879"/>
                  <a:gd name="connsiteY49" fmla="*/ 293173 h 437224"/>
                  <a:gd name="connsiteX50" fmla="*/ 0 w 605879"/>
                  <a:gd name="connsiteY50" fmla="*/ 153508 h 437224"/>
                  <a:gd name="connsiteX51" fmla="*/ 210609 w 605879"/>
                  <a:gd name="connsiteY51" fmla="*/ 0 h 437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605879" h="437224">
                    <a:moveTo>
                      <a:pt x="91000" y="173662"/>
                    </a:moveTo>
                    <a:lnTo>
                      <a:pt x="331193" y="173662"/>
                    </a:lnTo>
                    <a:cubicBezTo>
                      <a:pt x="337373" y="173662"/>
                      <a:pt x="342454" y="178725"/>
                      <a:pt x="342454" y="184882"/>
                    </a:cubicBezTo>
                    <a:cubicBezTo>
                      <a:pt x="342454" y="191040"/>
                      <a:pt x="337373" y="196102"/>
                      <a:pt x="331193" y="196102"/>
                    </a:cubicBezTo>
                    <a:lnTo>
                      <a:pt x="91000" y="196102"/>
                    </a:lnTo>
                    <a:cubicBezTo>
                      <a:pt x="84683" y="196102"/>
                      <a:pt x="79739" y="191040"/>
                      <a:pt x="79739" y="184882"/>
                    </a:cubicBezTo>
                    <a:cubicBezTo>
                      <a:pt x="79739" y="178725"/>
                      <a:pt x="84683" y="173662"/>
                      <a:pt x="91000" y="173662"/>
                    </a:cubicBezTo>
                    <a:close/>
                    <a:moveTo>
                      <a:pt x="421630" y="131441"/>
                    </a:moveTo>
                    <a:cubicBezTo>
                      <a:pt x="423003" y="138294"/>
                      <a:pt x="423552" y="145284"/>
                      <a:pt x="423552" y="152274"/>
                    </a:cubicBezTo>
                    <a:cubicBezTo>
                      <a:pt x="423552" y="220668"/>
                      <a:pt x="362456" y="281249"/>
                      <a:pt x="275961" y="300986"/>
                    </a:cubicBezTo>
                    <a:cubicBezTo>
                      <a:pt x="302047" y="334017"/>
                      <a:pt x="350924" y="355536"/>
                      <a:pt x="408175" y="358277"/>
                    </a:cubicBezTo>
                    <a:cubicBezTo>
                      <a:pt x="412569" y="358551"/>
                      <a:pt x="416413" y="361293"/>
                      <a:pt x="418060" y="365267"/>
                    </a:cubicBezTo>
                    <a:cubicBezTo>
                      <a:pt x="427259" y="388019"/>
                      <a:pt x="463505" y="403370"/>
                      <a:pt x="488218" y="410360"/>
                    </a:cubicBezTo>
                    <a:cubicBezTo>
                      <a:pt x="483962" y="399944"/>
                      <a:pt x="479156" y="385004"/>
                      <a:pt x="474214" y="363348"/>
                    </a:cubicBezTo>
                    <a:cubicBezTo>
                      <a:pt x="472841" y="357455"/>
                      <a:pt x="476273" y="351698"/>
                      <a:pt x="482039" y="349916"/>
                    </a:cubicBezTo>
                    <a:cubicBezTo>
                      <a:pt x="543685" y="332236"/>
                      <a:pt x="583500" y="290980"/>
                      <a:pt x="583363" y="244928"/>
                    </a:cubicBezTo>
                    <a:cubicBezTo>
                      <a:pt x="583363" y="182839"/>
                      <a:pt x="511009" y="132126"/>
                      <a:pt x="421630" y="131441"/>
                    </a:cubicBezTo>
                    <a:close/>
                    <a:moveTo>
                      <a:pt x="75898" y="120173"/>
                    </a:moveTo>
                    <a:lnTo>
                      <a:pt x="340509" y="120173"/>
                    </a:lnTo>
                    <a:cubicBezTo>
                      <a:pt x="346826" y="120173"/>
                      <a:pt x="351769" y="125114"/>
                      <a:pt x="351769" y="131428"/>
                    </a:cubicBezTo>
                    <a:cubicBezTo>
                      <a:pt x="351769" y="137604"/>
                      <a:pt x="346826" y="142683"/>
                      <a:pt x="340509" y="142683"/>
                    </a:cubicBezTo>
                    <a:lnTo>
                      <a:pt x="75898" y="142683"/>
                    </a:lnTo>
                    <a:cubicBezTo>
                      <a:pt x="69719" y="142683"/>
                      <a:pt x="64638" y="137604"/>
                      <a:pt x="64638" y="131428"/>
                    </a:cubicBezTo>
                    <a:cubicBezTo>
                      <a:pt x="64638" y="125114"/>
                      <a:pt x="69719" y="120173"/>
                      <a:pt x="75898" y="120173"/>
                    </a:cubicBezTo>
                    <a:close/>
                    <a:moveTo>
                      <a:pt x="210609" y="22478"/>
                    </a:moveTo>
                    <a:cubicBezTo>
                      <a:pt x="106952" y="22478"/>
                      <a:pt x="22516" y="81277"/>
                      <a:pt x="22516" y="153508"/>
                    </a:cubicBezTo>
                    <a:cubicBezTo>
                      <a:pt x="22516" y="206688"/>
                      <a:pt x="68372" y="254385"/>
                      <a:pt x="139216" y="274807"/>
                    </a:cubicBezTo>
                    <a:cubicBezTo>
                      <a:pt x="144983" y="276452"/>
                      <a:pt x="148415" y="282208"/>
                      <a:pt x="147042" y="288102"/>
                    </a:cubicBezTo>
                    <a:cubicBezTo>
                      <a:pt x="140864" y="314966"/>
                      <a:pt x="135097" y="332647"/>
                      <a:pt x="130017" y="344297"/>
                    </a:cubicBezTo>
                    <a:cubicBezTo>
                      <a:pt x="158437" y="336622"/>
                      <a:pt x="203058" y="318667"/>
                      <a:pt x="214041" y="291254"/>
                    </a:cubicBezTo>
                    <a:cubicBezTo>
                      <a:pt x="215689" y="287280"/>
                      <a:pt x="219533" y="284538"/>
                      <a:pt x="223927" y="284264"/>
                    </a:cubicBezTo>
                    <a:cubicBezTo>
                      <a:pt x="320170" y="279604"/>
                      <a:pt x="395407" y="223135"/>
                      <a:pt x="398839" y="152960"/>
                    </a:cubicBezTo>
                    <a:cubicBezTo>
                      <a:pt x="400075" y="126918"/>
                      <a:pt x="389915" y="101836"/>
                      <a:pt x="369596" y="80592"/>
                    </a:cubicBezTo>
                    <a:cubicBezTo>
                      <a:pt x="334860" y="44133"/>
                      <a:pt x="275412" y="22478"/>
                      <a:pt x="210609" y="22478"/>
                    </a:cubicBezTo>
                    <a:close/>
                    <a:moveTo>
                      <a:pt x="210609" y="0"/>
                    </a:moveTo>
                    <a:cubicBezTo>
                      <a:pt x="281453" y="0"/>
                      <a:pt x="346942" y="24260"/>
                      <a:pt x="385796" y="64967"/>
                    </a:cubicBezTo>
                    <a:cubicBezTo>
                      <a:pt x="398702" y="78536"/>
                      <a:pt x="408175" y="93338"/>
                      <a:pt x="414079" y="109100"/>
                    </a:cubicBezTo>
                    <a:cubicBezTo>
                      <a:pt x="416001" y="108963"/>
                      <a:pt x="417923" y="108963"/>
                      <a:pt x="419845" y="108963"/>
                    </a:cubicBezTo>
                    <a:cubicBezTo>
                      <a:pt x="522404" y="108963"/>
                      <a:pt x="606016" y="169955"/>
                      <a:pt x="605879" y="244928"/>
                    </a:cubicBezTo>
                    <a:cubicBezTo>
                      <a:pt x="605879" y="298519"/>
                      <a:pt x="564141" y="346079"/>
                      <a:pt x="498515" y="368420"/>
                    </a:cubicBezTo>
                    <a:cubicBezTo>
                      <a:pt x="506066" y="398025"/>
                      <a:pt x="512931" y="412279"/>
                      <a:pt x="516088" y="414609"/>
                    </a:cubicBezTo>
                    <a:cubicBezTo>
                      <a:pt x="524601" y="418858"/>
                      <a:pt x="523228" y="426671"/>
                      <a:pt x="522953" y="428178"/>
                    </a:cubicBezTo>
                    <a:cubicBezTo>
                      <a:pt x="522541" y="429686"/>
                      <a:pt x="520207" y="437224"/>
                      <a:pt x="510185" y="437224"/>
                    </a:cubicBezTo>
                    <a:cubicBezTo>
                      <a:pt x="497828" y="437224"/>
                      <a:pt x="423689" y="421325"/>
                      <a:pt x="400487" y="380344"/>
                    </a:cubicBezTo>
                    <a:cubicBezTo>
                      <a:pt x="333899" y="375410"/>
                      <a:pt x="277746" y="346764"/>
                      <a:pt x="250836" y="304275"/>
                    </a:cubicBezTo>
                    <a:cubicBezTo>
                      <a:pt x="244521" y="305098"/>
                      <a:pt x="238205" y="305783"/>
                      <a:pt x="231752" y="306331"/>
                    </a:cubicBezTo>
                    <a:cubicBezTo>
                      <a:pt x="206216" y="353069"/>
                      <a:pt x="121643" y="371161"/>
                      <a:pt x="107639" y="371161"/>
                    </a:cubicBezTo>
                    <a:cubicBezTo>
                      <a:pt x="97616" y="371161"/>
                      <a:pt x="95145" y="364171"/>
                      <a:pt x="94596" y="361978"/>
                    </a:cubicBezTo>
                    <a:cubicBezTo>
                      <a:pt x="94184" y="360470"/>
                      <a:pt x="92948" y="352658"/>
                      <a:pt x="102009" y="348135"/>
                    </a:cubicBezTo>
                    <a:cubicBezTo>
                      <a:pt x="105030" y="345942"/>
                      <a:pt x="113130" y="331550"/>
                      <a:pt x="122741" y="293173"/>
                    </a:cubicBezTo>
                    <a:cubicBezTo>
                      <a:pt x="47778" y="268228"/>
                      <a:pt x="0" y="214226"/>
                      <a:pt x="0" y="153508"/>
                    </a:cubicBezTo>
                    <a:cubicBezTo>
                      <a:pt x="0" y="68804"/>
                      <a:pt x="94458" y="0"/>
                      <a:pt x="21060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243776" tIns="121888" rIns="243776" bIns="121888" numCol="1" anchor="t" anchorCtr="0" compatLnSpc="1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1217930">
                  <a:lnSpc>
                    <a:spcPct val="132000"/>
                  </a:lnSpc>
                </a:pPr>
                <a:endParaRPr lang="en-US" sz="9600" dirty="0">
                  <a:solidFill>
                    <a:srgbClr val="5C5C5C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  <p:sp>
          <p:nvSpPr>
            <p:cNvPr id="33" name="íṧľïďè"/>
            <p:cNvSpPr txBox="1"/>
            <p:nvPr>
              <p:custDataLst>
                <p:tags r:id="rId3"/>
              </p:custDataLst>
            </p:nvPr>
          </p:nvSpPr>
          <p:spPr>
            <a:xfrm>
              <a:off x="766648" y="5033036"/>
              <a:ext cx="3266122" cy="1492771"/>
            </a:xfrm>
            <a:prstGeom prst="rect">
              <a:avLst/>
            </a:prstGeom>
            <a:noFill/>
          </p:spPr>
          <p:txBody>
            <a:bodyPr wrap="square" lIns="120000" tIns="62400" rIns="120000" bIns="62400" rtlCol="0">
              <a:normAutofit/>
            </a:bodyPr>
            <a:lstStyle/>
            <a:p>
              <a:pPr algn="ctr" defTabSz="1218565">
                <a:lnSpc>
                  <a:spcPct val="132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将获取的天气和大棚信息整合成</a:t>
              </a:r>
            </a:p>
            <a:p>
              <a:pPr algn="ctr" defTabSz="1218565">
                <a:lnSpc>
                  <a:spcPct val="132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文本语句，作为反馈给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的信息</a:t>
              </a:r>
            </a:p>
          </p:txBody>
        </p:sp>
        <p:sp>
          <p:nvSpPr>
            <p:cNvPr id="34" name="îsľiḑe"/>
            <p:cNvSpPr txBox="1"/>
            <p:nvPr>
              <p:custDataLst>
                <p:tags r:id="rId4"/>
              </p:custDataLst>
            </p:nvPr>
          </p:nvSpPr>
          <p:spPr>
            <a:xfrm>
              <a:off x="1209289" y="3790865"/>
              <a:ext cx="2288540" cy="989965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/>
                  </a:solidFill>
                </a:defRPr>
              </a:lvl1pPr>
            </a:lstStyle>
            <a:p>
              <a:pPr algn="ctr" defTabSz="1218565">
                <a:lnSpc>
                  <a:spcPct val="100000"/>
                </a:lnSpc>
              </a:pP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1.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数据处理</a:t>
              </a:r>
            </a:p>
          </p:txBody>
        </p:sp>
        <p:grpSp>
          <p:nvGrpSpPr>
            <p:cNvPr id="38" name="isľïdé"/>
            <p:cNvGrpSpPr/>
            <p:nvPr/>
          </p:nvGrpSpPr>
          <p:grpSpPr>
            <a:xfrm>
              <a:off x="5649515" y="3171105"/>
              <a:ext cx="537820" cy="537824"/>
              <a:chOff x="5371847" y="2312243"/>
              <a:chExt cx="656438" cy="656442"/>
            </a:xfrm>
          </p:grpSpPr>
          <p:sp>
            <p:nvSpPr>
              <p:cNvPr id="71" name="îŝļîḋé"/>
              <p:cNvSpPr/>
              <p:nvPr>
                <p:custDataLst>
                  <p:tags r:id="rId9"/>
                </p:custDataLst>
              </p:nvPr>
            </p:nvSpPr>
            <p:spPr>
              <a:xfrm>
                <a:off x="5371847" y="2312243"/>
                <a:ext cx="656438" cy="65644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7930">
                  <a:lnSpc>
                    <a:spcPct val="132000"/>
                  </a:lnSpc>
                </a:pPr>
                <a:endParaRPr lang="zh-CN" altLang="en-US" sz="2400" dirty="0">
                  <a:solidFill>
                    <a:prstClr val="white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72" name="išļîḓè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5532706" y="2473323"/>
                <a:ext cx="334720" cy="334280"/>
              </a:xfrm>
              <a:custGeom>
                <a:avLst/>
                <a:gdLst>
                  <a:gd name="connsiteX0" fmla="*/ 86413 w 591547"/>
                  <a:gd name="connsiteY0" fmla="*/ 515758 h 590770"/>
                  <a:gd name="connsiteX1" fmla="*/ 171919 w 591547"/>
                  <a:gd name="connsiteY1" fmla="*/ 515758 h 590770"/>
                  <a:gd name="connsiteX2" fmla="*/ 171919 w 591547"/>
                  <a:gd name="connsiteY2" fmla="*/ 537523 h 590770"/>
                  <a:gd name="connsiteX3" fmla="*/ 86413 w 591547"/>
                  <a:gd name="connsiteY3" fmla="*/ 537523 h 590770"/>
                  <a:gd name="connsiteX4" fmla="*/ 86413 w 591547"/>
                  <a:gd name="connsiteY4" fmla="*/ 461733 h 590770"/>
                  <a:gd name="connsiteX5" fmla="*/ 171919 w 591547"/>
                  <a:gd name="connsiteY5" fmla="*/ 461733 h 590770"/>
                  <a:gd name="connsiteX6" fmla="*/ 171919 w 591547"/>
                  <a:gd name="connsiteY6" fmla="*/ 483498 h 590770"/>
                  <a:gd name="connsiteX7" fmla="*/ 86413 w 591547"/>
                  <a:gd name="connsiteY7" fmla="*/ 483498 h 590770"/>
                  <a:gd name="connsiteX8" fmla="*/ 86413 w 591547"/>
                  <a:gd name="connsiteY8" fmla="*/ 408616 h 590770"/>
                  <a:gd name="connsiteX9" fmla="*/ 171919 w 591547"/>
                  <a:gd name="connsiteY9" fmla="*/ 408616 h 590770"/>
                  <a:gd name="connsiteX10" fmla="*/ 171919 w 591547"/>
                  <a:gd name="connsiteY10" fmla="*/ 429474 h 590770"/>
                  <a:gd name="connsiteX11" fmla="*/ 86413 w 591547"/>
                  <a:gd name="connsiteY11" fmla="*/ 429474 h 590770"/>
                  <a:gd name="connsiteX12" fmla="*/ 204177 w 591547"/>
                  <a:gd name="connsiteY12" fmla="*/ 357041 h 590770"/>
                  <a:gd name="connsiteX13" fmla="*/ 204177 w 591547"/>
                  <a:gd name="connsiteY13" fmla="*/ 569815 h 590770"/>
                  <a:gd name="connsiteX14" fmla="*/ 333300 w 591547"/>
                  <a:gd name="connsiteY14" fmla="*/ 569815 h 590770"/>
                  <a:gd name="connsiteX15" fmla="*/ 333300 w 591547"/>
                  <a:gd name="connsiteY15" fmla="*/ 382026 h 590770"/>
                  <a:gd name="connsiteX16" fmla="*/ 183194 w 591547"/>
                  <a:gd name="connsiteY16" fmla="*/ 357041 h 590770"/>
                  <a:gd name="connsiteX17" fmla="*/ 75053 w 591547"/>
                  <a:gd name="connsiteY17" fmla="*/ 382026 h 590770"/>
                  <a:gd name="connsiteX18" fmla="*/ 75053 w 591547"/>
                  <a:gd name="connsiteY18" fmla="*/ 569815 h 590770"/>
                  <a:gd name="connsiteX19" fmla="*/ 183194 w 591547"/>
                  <a:gd name="connsiteY19" fmla="*/ 569815 h 590770"/>
                  <a:gd name="connsiteX20" fmla="*/ 247709 w 591547"/>
                  <a:gd name="connsiteY20" fmla="*/ 311838 h 590770"/>
                  <a:gd name="connsiteX21" fmla="*/ 322851 w 591547"/>
                  <a:gd name="connsiteY21" fmla="*/ 311838 h 590770"/>
                  <a:gd name="connsiteX22" fmla="*/ 322851 w 591547"/>
                  <a:gd name="connsiteY22" fmla="*/ 332826 h 590770"/>
                  <a:gd name="connsiteX23" fmla="*/ 247709 w 591547"/>
                  <a:gd name="connsiteY23" fmla="*/ 332826 h 590770"/>
                  <a:gd name="connsiteX24" fmla="*/ 247709 w 591547"/>
                  <a:gd name="connsiteY24" fmla="*/ 257944 h 590770"/>
                  <a:gd name="connsiteX25" fmla="*/ 322851 w 591547"/>
                  <a:gd name="connsiteY25" fmla="*/ 257944 h 590770"/>
                  <a:gd name="connsiteX26" fmla="*/ 322851 w 591547"/>
                  <a:gd name="connsiteY26" fmla="*/ 279580 h 590770"/>
                  <a:gd name="connsiteX27" fmla="*/ 247709 w 591547"/>
                  <a:gd name="connsiteY27" fmla="*/ 279580 h 590770"/>
                  <a:gd name="connsiteX28" fmla="*/ 247709 w 591547"/>
                  <a:gd name="connsiteY28" fmla="*/ 203919 h 590770"/>
                  <a:gd name="connsiteX29" fmla="*/ 322851 w 591547"/>
                  <a:gd name="connsiteY29" fmla="*/ 203919 h 590770"/>
                  <a:gd name="connsiteX30" fmla="*/ 322851 w 591547"/>
                  <a:gd name="connsiteY30" fmla="*/ 225684 h 590770"/>
                  <a:gd name="connsiteX31" fmla="*/ 247709 w 591547"/>
                  <a:gd name="connsiteY31" fmla="*/ 225684 h 590770"/>
                  <a:gd name="connsiteX32" fmla="*/ 247709 w 591547"/>
                  <a:gd name="connsiteY32" fmla="*/ 150672 h 590770"/>
                  <a:gd name="connsiteX33" fmla="*/ 322851 w 591547"/>
                  <a:gd name="connsiteY33" fmla="*/ 150672 h 590770"/>
                  <a:gd name="connsiteX34" fmla="*/ 322851 w 591547"/>
                  <a:gd name="connsiteY34" fmla="*/ 171660 h 590770"/>
                  <a:gd name="connsiteX35" fmla="*/ 247709 w 591547"/>
                  <a:gd name="connsiteY35" fmla="*/ 171660 h 590770"/>
                  <a:gd name="connsiteX36" fmla="*/ 355090 w 591547"/>
                  <a:gd name="connsiteY36" fmla="*/ 102357 h 590770"/>
                  <a:gd name="connsiteX37" fmla="*/ 355090 w 591547"/>
                  <a:gd name="connsiteY37" fmla="*/ 373160 h 590770"/>
                  <a:gd name="connsiteX38" fmla="*/ 355090 w 591547"/>
                  <a:gd name="connsiteY38" fmla="*/ 376384 h 590770"/>
                  <a:gd name="connsiteX39" fmla="*/ 355090 w 591547"/>
                  <a:gd name="connsiteY39" fmla="*/ 569815 h 590770"/>
                  <a:gd name="connsiteX40" fmla="*/ 484213 w 591547"/>
                  <a:gd name="connsiteY40" fmla="*/ 569815 h 590770"/>
                  <a:gd name="connsiteX41" fmla="*/ 484213 w 591547"/>
                  <a:gd name="connsiteY41" fmla="*/ 154744 h 590770"/>
                  <a:gd name="connsiteX42" fmla="*/ 333300 w 591547"/>
                  <a:gd name="connsiteY42" fmla="*/ 99939 h 590770"/>
                  <a:gd name="connsiteX43" fmla="*/ 236458 w 591547"/>
                  <a:gd name="connsiteY43" fmla="*/ 125730 h 590770"/>
                  <a:gd name="connsiteX44" fmla="*/ 236458 w 591547"/>
                  <a:gd name="connsiteY44" fmla="*/ 341728 h 590770"/>
                  <a:gd name="connsiteX45" fmla="*/ 333300 w 591547"/>
                  <a:gd name="connsiteY45" fmla="*/ 360265 h 590770"/>
                  <a:gd name="connsiteX46" fmla="*/ 397862 w 591547"/>
                  <a:gd name="connsiteY46" fmla="*/ 21761 h 590770"/>
                  <a:gd name="connsiteX47" fmla="*/ 387371 w 591547"/>
                  <a:gd name="connsiteY47" fmla="*/ 32238 h 590770"/>
                  <a:gd name="connsiteX48" fmla="*/ 397862 w 591547"/>
                  <a:gd name="connsiteY48" fmla="*/ 42716 h 590770"/>
                  <a:gd name="connsiteX49" fmla="*/ 409160 w 591547"/>
                  <a:gd name="connsiteY49" fmla="*/ 32238 h 590770"/>
                  <a:gd name="connsiteX50" fmla="*/ 397862 w 591547"/>
                  <a:gd name="connsiteY50" fmla="*/ 21761 h 590770"/>
                  <a:gd name="connsiteX51" fmla="*/ 397862 w 591547"/>
                  <a:gd name="connsiteY51" fmla="*/ 0 h 590770"/>
                  <a:gd name="connsiteX52" fmla="*/ 430143 w 591547"/>
                  <a:gd name="connsiteY52" fmla="*/ 32238 h 590770"/>
                  <a:gd name="connsiteX53" fmla="*/ 409160 w 591547"/>
                  <a:gd name="connsiteY53" fmla="*/ 62865 h 590770"/>
                  <a:gd name="connsiteX54" fmla="*/ 409160 w 591547"/>
                  <a:gd name="connsiteY54" fmla="*/ 100745 h 590770"/>
                  <a:gd name="connsiteX55" fmla="*/ 498740 w 591547"/>
                  <a:gd name="connsiteY55" fmla="*/ 137819 h 590770"/>
                  <a:gd name="connsiteX56" fmla="*/ 506003 w 591547"/>
                  <a:gd name="connsiteY56" fmla="*/ 147491 h 590770"/>
                  <a:gd name="connsiteX57" fmla="*/ 506003 w 591547"/>
                  <a:gd name="connsiteY57" fmla="*/ 569815 h 590770"/>
                  <a:gd name="connsiteX58" fmla="*/ 591547 w 591547"/>
                  <a:gd name="connsiteY58" fmla="*/ 569815 h 590770"/>
                  <a:gd name="connsiteX59" fmla="*/ 591547 w 591547"/>
                  <a:gd name="connsiteY59" fmla="*/ 590770 h 590770"/>
                  <a:gd name="connsiteX60" fmla="*/ 494705 w 591547"/>
                  <a:gd name="connsiteY60" fmla="*/ 590770 h 590770"/>
                  <a:gd name="connsiteX61" fmla="*/ 344598 w 591547"/>
                  <a:gd name="connsiteY61" fmla="*/ 590770 h 590770"/>
                  <a:gd name="connsiteX62" fmla="*/ 193685 w 591547"/>
                  <a:gd name="connsiteY62" fmla="*/ 590770 h 590770"/>
                  <a:gd name="connsiteX63" fmla="*/ 64562 w 591547"/>
                  <a:gd name="connsiteY63" fmla="*/ 590770 h 590770"/>
                  <a:gd name="connsiteX64" fmla="*/ 0 w 591547"/>
                  <a:gd name="connsiteY64" fmla="*/ 590770 h 590770"/>
                  <a:gd name="connsiteX65" fmla="*/ 0 w 591547"/>
                  <a:gd name="connsiteY65" fmla="*/ 569815 h 590770"/>
                  <a:gd name="connsiteX66" fmla="*/ 54070 w 591547"/>
                  <a:gd name="connsiteY66" fmla="*/ 569815 h 590770"/>
                  <a:gd name="connsiteX67" fmla="*/ 54070 w 591547"/>
                  <a:gd name="connsiteY67" fmla="*/ 373160 h 590770"/>
                  <a:gd name="connsiteX68" fmla="*/ 62141 w 591547"/>
                  <a:gd name="connsiteY68" fmla="*/ 362683 h 590770"/>
                  <a:gd name="connsiteX69" fmla="*/ 191264 w 591547"/>
                  <a:gd name="connsiteY69" fmla="*/ 333668 h 590770"/>
                  <a:gd name="connsiteX70" fmla="*/ 195299 w 591547"/>
                  <a:gd name="connsiteY70" fmla="*/ 333668 h 590770"/>
                  <a:gd name="connsiteX71" fmla="*/ 196106 w 591547"/>
                  <a:gd name="connsiteY71" fmla="*/ 333668 h 590770"/>
                  <a:gd name="connsiteX72" fmla="*/ 215475 w 591547"/>
                  <a:gd name="connsiteY72" fmla="*/ 336892 h 590770"/>
                  <a:gd name="connsiteX73" fmla="*/ 215475 w 591547"/>
                  <a:gd name="connsiteY73" fmla="*/ 116864 h 590770"/>
                  <a:gd name="connsiteX74" fmla="*/ 223545 w 591547"/>
                  <a:gd name="connsiteY74" fmla="*/ 106387 h 590770"/>
                  <a:gd name="connsiteX75" fmla="*/ 341370 w 591547"/>
                  <a:gd name="connsiteY75" fmla="*/ 75760 h 590770"/>
                  <a:gd name="connsiteX76" fmla="*/ 342984 w 591547"/>
                  <a:gd name="connsiteY76" fmla="*/ 75760 h 590770"/>
                  <a:gd name="connsiteX77" fmla="*/ 345405 w 591547"/>
                  <a:gd name="connsiteY77" fmla="*/ 75760 h 590770"/>
                  <a:gd name="connsiteX78" fmla="*/ 347020 w 591547"/>
                  <a:gd name="connsiteY78" fmla="*/ 75760 h 590770"/>
                  <a:gd name="connsiteX79" fmla="*/ 348634 w 591547"/>
                  <a:gd name="connsiteY79" fmla="*/ 75760 h 590770"/>
                  <a:gd name="connsiteX80" fmla="*/ 387371 w 591547"/>
                  <a:gd name="connsiteY80" fmla="*/ 91879 h 590770"/>
                  <a:gd name="connsiteX81" fmla="*/ 387371 w 591547"/>
                  <a:gd name="connsiteY81" fmla="*/ 62865 h 590770"/>
                  <a:gd name="connsiteX82" fmla="*/ 365581 w 591547"/>
                  <a:gd name="connsiteY82" fmla="*/ 32238 h 590770"/>
                  <a:gd name="connsiteX83" fmla="*/ 397862 w 591547"/>
                  <a:gd name="connsiteY83" fmla="*/ 0 h 590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91547" h="590770">
                    <a:moveTo>
                      <a:pt x="86413" y="515758"/>
                    </a:moveTo>
                    <a:lnTo>
                      <a:pt x="171919" y="515758"/>
                    </a:lnTo>
                    <a:lnTo>
                      <a:pt x="171919" y="537523"/>
                    </a:lnTo>
                    <a:lnTo>
                      <a:pt x="86413" y="537523"/>
                    </a:lnTo>
                    <a:close/>
                    <a:moveTo>
                      <a:pt x="86413" y="461733"/>
                    </a:moveTo>
                    <a:lnTo>
                      <a:pt x="171919" y="461733"/>
                    </a:lnTo>
                    <a:lnTo>
                      <a:pt x="171919" y="483498"/>
                    </a:lnTo>
                    <a:lnTo>
                      <a:pt x="86413" y="483498"/>
                    </a:lnTo>
                    <a:close/>
                    <a:moveTo>
                      <a:pt x="86413" y="408616"/>
                    </a:moveTo>
                    <a:lnTo>
                      <a:pt x="171919" y="408616"/>
                    </a:lnTo>
                    <a:lnTo>
                      <a:pt x="171919" y="429474"/>
                    </a:lnTo>
                    <a:lnTo>
                      <a:pt x="86413" y="429474"/>
                    </a:lnTo>
                    <a:close/>
                    <a:moveTo>
                      <a:pt x="204177" y="357041"/>
                    </a:moveTo>
                    <a:lnTo>
                      <a:pt x="204177" y="569815"/>
                    </a:lnTo>
                    <a:lnTo>
                      <a:pt x="333300" y="569815"/>
                    </a:lnTo>
                    <a:lnTo>
                      <a:pt x="333300" y="382026"/>
                    </a:lnTo>
                    <a:close/>
                    <a:moveTo>
                      <a:pt x="183194" y="357041"/>
                    </a:moveTo>
                    <a:lnTo>
                      <a:pt x="75053" y="382026"/>
                    </a:lnTo>
                    <a:lnTo>
                      <a:pt x="75053" y="569815"/>
                    </a:lnTo>
                    <a:lnTo>
                      <a:pt x="183194" y="569815"/>
                    </a:lnTo>
                    <a:close/>
                    <a:moveTo>
                      <a:pt x="247709" y="311838"/>
                    </a:moveTo>
                    <a:lnTo>
                      <a:pt x="322851" y="311838"/>
                    </a:lnTo>
                    <a:lnTo>
                      <a:pt x="322851" y="332826"/>
                    </a:lnTo>
                    <a:lnTo>
                      <a:pt x="247709" y="332826"/>
                    </a:lnTo>
                    <a:close/>
                    <a:moveTo>
                      <a:pt x="247709" y="257944"/>
                    </a:moveTo>
                    <a:lnTo>
                      <a:pt x="322851" y="257944"/>
                    </a:lnTo>
                    <a:lnTo>
                      <a:pt x="322851" y="279580"/>
                    </a:lnTo>
                    <a:lnTo>
                      <a:pt x="247709" y="279580"/>
                    </a:lnTo>
                    <a:close/>
                    <a:moveTo>
                      <a:pt x="247709" y="203919"/>
                    </a:moveTo>
                    <a:lnTo>
                      <a:pt x="322851" y="203919"/>
                    </a:lnTo>
                    <a:lnTo>
                      <a:pt x="322851" y="225684"/>
                    </a:lnTo>
                    <a:lnTo>
                      <a:pt x="247709" y="225684"/>
                    </a:lnTo>
                    <a:close/>
                    <a:moveTo>
                      <a:pt x="247709" y="150672"/>
                    </a:moveTo>
                    <a:lnTo>
                      <a:pt x="322851" y="150672"/>
                    </a:lnTo>
                    <a:lnTo>
                      <a:pt x="322851" y="171660"/>
                    </a:lnTo>
                    <a:lnTo>
                      <a:pt x="247709" y="171660"/>
                    </a:lnTo>
                    <a:close/>
                    <a:moveTo>
                      <a:pt x="355090" y="102357"/>
                    </a:moveTo>
                    <a:lnTo>
                      <a:pt x="355090" y="373160"/>
                    </a:lnTo>
                    <a:lnTo>
                      <a:pt x="355090" y="376384"/>
                    </a:lnTo>
                    <a:lnTo>
                      <a:pt x="355090" y="569815"/>
                    </a:lnTo>
                    <a:lnTo>
                      <a:pt x="484213" y="569815"/>
                    </a:lnTo>
                    <a:lnTo>
                      <a:pt x="484213" y="154744"/>
                    </a:lnTo>
                    <a:close/>
                    <a:moveTo>
                      <a:pt x="333300" y="99939"/>
                    </a:moveTo>
                    <a:lnTo>
                      <a:pt x="236458" y="125730"/>
                    </a:lnTo>
                    <a:lnTo>
                      <a:pt x="236458" y="341728"/>
                    </a:lnTo>
                    <a:lnTo>
                      <a:pt x="333300" y="360265"/>
                    </a:lnTo>
                    <a:close/>
                    <a:moveTo>
                      <a:pt x="397862" y="21761"/>
                    </a:moveTo>
                    <a:cubicBezTo>
                      <a:pt x="392213" y="21761"/>
                      <a:pt x="387371" y="26596"/>
                      <a:pt x="387371" y="32238"/>
                    </a:cubicBezTo>
                    <a:cubicBezTo>
                      <a:pt x="387371" y="37880"/>
                      <a:pt x="392213" y="42716"/>
                      <a:pt x="397862" y="42716"/>
                    </a:cubicBezTo>
                    <a:cubicBezTo>
                      <a:pt x="404318" y="42716"/>
                      <a:pt x="409160" y="37880"/>
                      <a:pt x="409160" y="32238"/>
                    </a:cubicBezTo>
                    <a:cubicBezTo>
                      <a:pt x="409160" y="26596"/>
                      <a:pt x="404318" y="21761"/>
                      <a:pt x="397862" y="21761"/>
                    </a:cubicBezTo>
                    <a:close/>
                    <a:moveTo>
                      <a:pt x="397862" y="0"/>
                    </a:moveTo>
                    <a:cubicBezTo>
                      <a:pt x="415616" y="0"/>
                      <a:pt x="430143" y="14507"/>
                      <a:pt x="430143" y="32238"/>
                    </a:cubicBezTo>
                    <a:cubicBezTo>
                      <a:pt x="430143" y="45940"/>
                      <a:pt x="421266" y="58029"/>
                      <a:pt x="409160" y="62865"/>
                    </a:cubicBezTo>
                    <a:lnTo>
                      <a:pt x="409160" y="100745"/>
                    </a:lnTo>
                    <a:lnTo>
                      <a:pt x="498740" y="137819"/>
                    </a:lnTo>
                    <a:cubicBezTo>
                      <a:pt x="502775" y="139431"/>
                      <a:pt x="506003" y="143461"/>
                      <a:pt x="506003" y="147491"/>
                    </a:cubicBezTo>
                    <a:lnTo>
                      <a:pt x="506003" y="569815"/>
                    </a:lnTo>
                    <a:lnTo>
                      <a:pt x="591547" y="569815"/>
                    </a:lnTo>
                    <a:lnTo>
                      <a:pt x="591547" y="590770"/>
                    </a:lnTo>
                    <a:lnTo>
                      <a:pt x="494705" y="590770"/>
                    </a:lnTo>
                    <a:lnTo>
                      <a:pt x="344598" y="590770"/>
                    </a:lnTo>
                    <a:lnTo>
                      <a:pt x="193685" y="590770"/>
                    </a:lnTo>
                    <a:lnTo>
                      <a:pt x="64562" y="590770"/>
                    </a:lnTo>
                    <a:lnTo>
                      <a:pt x="0" y="590770"/>
                    </a:lnTo>
                    <a:lnTo>
                      <a:pt x="0" y="569815"/>
                    </a:lnTo>
                    <a:lnTo>
                      <a:pt x="54070" y="569815"/>
                    </a:lnTo>
                    <a:lnTo>
                      <a:pt x="54070" y="373160"/>
                    </a:lnTo>
                    <a:cubicBezTo>
                      <a:pt x="54070" y="368324"/>
                      <a:pt x="57298" y="364294"/>
                      <a:pt x="62141" y="362683"/>
                    </a:cubicBezTo>
                    <a:lnTo>
                      <a:pt x="191264" y="333668"/>
                    </a:lnTo>
                    <a:cubicBezTo>
                      <a:pt x="192878" y="332862"/>
                      <a:pt x="194492" y="332862"/>
                      <a:pt x="195299" y="333668"/>
                    </a:cubicBezTo>
                    <a:cubicBezTo>
                      <a:pt x="196106" y="333668"/>
                      <a:pt x="196106" y="333668"/>
                      <a:pt x="196106" y="333668"/>
                    </a:cubicBezTo>
                    <a:lnTo>
                      <a:pt x="215475" y="336892"/>
                    </a:lnTo>
                    <a:lnTo>
                      <a:pt x="215475" y="116864"/>
                    </a:lnTo>
                    <a:cubicBezTo>
                      <a:pt x="215475" y="112028"/>
                      <a:pt x="218703" y="107999"/>
                      <a:pt x="223545" y="106387"/>
                    </a:cubicBezTo>
                    <a:lnTo>
                      <a:pt x="341370" y="75760"/>
                    </a:lnTo>
                    <a:cubicBezTo>
                      <a:pt x="342177" y="75760"/>
                      <a:pt x="342177" y="75760"/>
                      <a:pt x="342984" y="75760"/>
                    </a:cubicBezTo>
                    <a:cubicBezTo>
                      <a:pt x="343791" y="75760"/>
                      <a:pt x="344598" y="74954"/>
                      <a:pt x="345405" y="75760"/>
                    </a:cubicBezTo>
                    <a:cubicBezTo>
                      <a:pt x="346213" y="75760"/>
                      <a:pt x="347020" y="75760"/>
                      <a:pt x="347020" y="75760"/>
                    </a:cubicBezTo>
                    <a:cubicBezTo>
                      <a:pt x="347827" y="75760"/>
                      <a:pt x="347827" y="75760"/>
                      <a:pt x="348634" y="75760"/>
                    </a:cubicBezTo>
                    <a:lnTo>
                      <a:pt x="387371" y="91879"/>
                    </a:lnTo>
                    <a:lnTo>
                      <a:pt x="387371" y="62865"/>
                    </a:lnTo>
                    <a:cubicBezTo>
                      <a:pt x="375265" y="58029"/>
                      <a:pt x="365581" y="45940"/>
                      <a:pt x="365581" y="32238"/>
                    </a:cubicBezTo>
                    <a:cubicBezTo>
                      <a:pt x="365581" y="14507"/>
                      <a:pt x="380107" y="0"/>
                      <a:pt x="39786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243776" tIns="121888" rIns="243776" bIns="121888" numCol="1" anchor="t" anchorCtr="0" compatLnSpc="1"/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1217930">
                  <a:lnSpc>
                    <a:spcPct val="132000"/>
                  </a:lnSpc>
                </a:pPr>
                <a:endParaRPr lang="en-US" sz="9600" dirty="0">
                  <a:solidFill>
                    <a:srgbClr val="5C5C5C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  <p:sp>
          <p:nvSpPr>
            <p:cNvPr id="39" name="iŝ1íďé"/>
            <p:cNvSpPr txBox="1"/>
            <p:nvPr>
              <p:custDataLst>
                <p:tags r:id="rId5"/>
              </p:custDataLst>
            </p:nvPr>
          </p:nvSpPr>
          <p:spPr>
            <a:xfrm>
              <a:off x="4376805" y="5033036"/>
              <a:ext cx="3266122" cy="1492771"/>
            </a:xfrm>
            <a:prstGeom prst="rect">
              <a:avLst/>
            </a:prstGeom>
            <a:noFill/>
          </p:spPr>
          <p:txBody>
            <a:bodyPr wrap="square" lIns="120000" tIns="62400" rIns="120000" bIns="62400" rtlCol="0">
              <a:norm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defTabSz="1218565">
                <a:lnSpc>
                  <a:spcPct val="132000"/>
                </a:lnSpc>
              </a:pPr>
              <a:r>
                <a:rPr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使用了WebSocket库来建立与讯飞语音云GPT服务的连接，并发送查询以获取响应。</a:t>
              </a:r>
            </a:p>
          </p:txBody>
        </p:sp>
        <p:sp>
          <p:nvSpPr>
            <p:cNvPr id="40" name="í$ļíḑè"/>
            <p:cNvSpPr txBox="1"/>
            <p:nvPr>
              <p:custDataLst>
                <p:tags r:id="rId6"/>
              </p:custDataLst>
            </p:nvPr>
          </p:nvSpPr>
          <p:spPr>
            <a:xfrm>
              <a:off x="4819264" y="3790865"/>
              <a:ext cx="2288540" cy="1028065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/>
                  </a:solidFill>
                </a:defRPr>
              </a:lvl1pPr>
            </a:lstStyle>
            <a:p>
              <a:pPr algn="ctr" defTabSz="1218565">
                <a:lnSpc>
                  <a:spcPct val="100000"/>
                </a:lnSpc>
              </a:pP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2.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调入</a:t>
              </a: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AI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模型</a:t>
              </a:r>
            </a:p>
          </p:txBody>
        </p:sp>
        <p:cxnSp>
          <p:nvCxnSpPr>
            <p:cNvPr id="41" name="直接连接符 40"/>
            <p:cNvCxnSpPr/>
            <p:nvPr>
              <p:custDataLst>
                <p:tags r:id="rId7"/>
              </p:custDataLst>
            </p:nvPr>
          </p:nvCxnSpPr>
          <p:spPr>
            <a:xfrm>
              <a:off x="4045160" y="3889781"/>
              <a:ext cx="0" cy="174080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işļîḍé"/>
            <p:cNvGrpSpPr/>
            <p:nvPr/>
          </p:nvGrpSpPr>
          <p:grpSpPr>
            <a:xfrm>
              <a:off x="9259672" y="3171105"/>
              <a:ext cx="537820" cy="537824"/>
              <a:chOff x="5371847" y="2312243"/>
              <a:chExt cx="656438" cy="656442"/>
            </a:xfrm>
          </p:grpSpPr>
          <p:sp>
            <p:nvSpPr>
              <p:cNvPr id="69" name="íslidè"/>
              <p:cNvSpPr/>
              <p:nvPr/>
            </p:nvSpPr>
            <p:spPr>
              <a:xfrm>
                <a:off x="5371847" y="2312243"/>
                <a:ext cx="656438" cy="656442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1218565">
                  <a:lnSpc>
                    <a:spcPct val="132000"/>
                  </a:lnSpc>
                </a:pPr>
                <a:endParaRPr lang="zh-CN" altLang="en-US" sz="2400" dirty="0">
                  <a:solidFill>
                    <a:prstClr val="white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70" name="is1îḍê"/>
              <p:cNvSpPr/>
              <p:nvPr/>
            </p:nvSpPr>
            <p:spPr bwMode="auto">
              <a:xfrm>
                <a:off x="5556825" y="2473103"/>
                <a:ext cx="286481" cy="33472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  <a:gd name="connsiteX48" fmla="*/ 373273 h 605239"/>
                  <a:gd name="connsiteY48" fmla="*/ 373273 h 605239"/>
                  <a:gd name="connsiteX49" fmla="*/ 373273 h 605239"/>
                  <a:gd name="connsiteY49" fmla="*/ 373273 h 605239"/>
                  <a:gd name="connsiteX50" fmla="*/ 373273 h 605239"/>
                  <a:gd name="connsiteY50" fmla="*/ 373273 h 605239"/>
                  <a:gd name="connsiteX51" fmla="*/ 373273 h 605239"/>
                  <a:gd name="connsiteY51" fmla="*/ 373273 h 605239"/>
                  <a:gd name="connsiteX52" fmla="*/ 373273 h 605239"/>
                  <a:gd name="connsiteY52" fmla="*/ 373273 h 605239"/>
                  <a:gd name="connsiteX53" fmla="*/ 373273 h 605239"/>
                  <a:gd name="connsiteY53" fmla="*/ 373273 h 605239"/>
                  <a:gd name="connsiteX54" fmla="*/ 373273 h 605239"/>
                  <a:gd name="connsiteY54" fmla="*/ 373273 h 605239"/>
                  <a:gd name="connsiteX55" fmla="*/ 373273 h 605239"/>
                  <a:gd name="connsiteY55" fmla="*/ 373273 h 605239"/>
                  <a:gd name="connsiteX56" fmla="*/ 373273 h 605239"/>
                  <a:gd name="connsiteY56" fmla="*/ 373273 h 605239"/>
                  <a:gd name="connsiteX57" fmla="*/ 373273 h 605239"/>
                  <a:gd name="connsiteY57" fmla="*/ 373273 h 605239"/>
                  <a:gd name="connsiteX58" fmla="*/ 373273 h 605239"/>
                  <a:gd name="connsiteY58" fmla="*/ 373273 h 605239"/>
                  <a:gd name="connsiteX59" fmla="*/ 373273 h 605239"/>
                  <a:gd name="connsiteY59" fmla="*/ 373273 h 605239"/>
                  <a:gd name="connsiteX60" fmla="*/ 373273 h 605239"/>
                  <a:gd name="connsiteY60" fmla="*/ 373273 h 605239"/>
                  <a:gd name="connsiteX61" fmla="*/ 373273 h 605239"/>
                  <a:gd name="connsiteY61" fmla="*/ 373273 h 605239"/>
                  <a:gd name="connsiteX62" fmla="*/ 373273 h 605239"/>
                  <a:gd name="connsiteY62" fmla="*/ 373273 h 605239"/>
                  <a:gd name="connsiteX63" fmla="*/ 373273 h 605239"/>
                  <a:gd name="connsiteY63" fmla="*/ 373273 h 605239"/>
                  <a:gd name="connsiteX64" fmla="*/ 373273 h 605239"/>
                  <a:gd name="connsiteY64" fmla="*/ 373273 h 605239"/>
                  <a:gd name="connsiteX65" fmla="*/ 373273 h 605239"/>
                  <a:gd name="connsiteY65" fmla="*/ 373273 h 605239"/>
                  <a:gd name="connsiteX66" fmla="*/ 373273 h 605239"/>
                  <a:gd name="connsiteY66" fmla="*/ 373273 h 605239"/>
                  <a:gd name="connsiteX67" fmla="*/ 373273 h 605239"/>
                  <a:gd name="connsiteY67" fmla="*/ 373273 h 605239"/>
                  <a:gd name="connsiteX68" fmla="*/ 373273 h 605239"/>
                  <a:gd name="connsiteY68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520914" h="608627">
                    <a:moveTo>
                      <a:pt x="392723" y="253643"/>
                    </a:moveTo>
                    <a:cubicBezTo>
                      <a:pt x="339481" y="253643"/>
                      <a:pt x="296212" y="296991"/>
                      <a:pt x="296212" y="350151"/>
                    </a:cubicBezTo>
                    <a:lnTo>
                      <a:pt x="296212" y="579338"/>
                    </a:lnTo>
                    <a:lnTo>
                      <a:pt x="491580" y="579338"/>
                    </a:lnTo>
                    <a:lnTo>
                      <a:pt x="491580" y="350151"/>
                    </a:lnTo>
                    <a:cubicBezTo>
                      <a:pt x="491580" y="296991"/>
                      <a:pt x="448311" y="253643"/>
                      <a:pt x="395069" y="253643"/>
                    </a:cubicBezTo>
                    <a:close/>
                    <a:moveTo>
                      <a:pt x="74323" y="92229"/>
                    </a:moveTo>
                    <a:cubicBezTo>
                      <a:pt x="82385" y="92229"/>
                      <a:pt x="88982" y="98820"/>
                      <a:pt x="88982" y="106876"/>
                    </a:cubicBezTo>
                    <a:cubicBezTo>
                      <a:pt x="88982" y="114931"/>
                      <a:pt x="82385" y="121522"/>
                      <a:pt x="74323" y="121522"/>
                    </a:cubicBezTo>
                    <a:cubicBezTo>
                      <a:pt x="49548" y="121522"/>
                      <a:pt x="29319" y="141588"/>
                      <a:pt x="29319" y="166488"/>
                    </a:cubicBezTo>
                    <a:cubicBezTo>
                      <a:pt x="29319" y="191241"/>
                      <a:pt x="49548" y="211453"/>
                      <a:pt x="74323" y="211453"/>
                    </a:cubicBezTo>
                    <a:lnTo>
                      <a:pt x="74909" y="211453"/>
                    </a:lnTo>
                    <a:cubicBezTo>
                      <a:pt x="86197" y="211453"/>
                      <a:pt x="97045" y="213943"/>
                      <a:pt x="107013" y="218777"/>
                    </a:cubicBezTo>
                    <a:cubicBezTo>
                      <a:pt x="114343" y="222292"/>
                      <a:pt x="117421" y="231080"/>
                      <a:pt x="113903" y="238403"/>
                    </a:cubicBezTo>
                    <a:cubicBezTo>
                      <a:pt x="110238" y="245580"/>
                      <a:pt x="101589" y="248656"/>
                      <a:pt x="94259" y="245141"/>
                    </a:cubicBezTo>
                    <a:cubicBezTo>
                      <a:pt x="88249" y="242211"/>
                      <a:pt x="81652" y="240747"/>
                      <a:pt x="74909" y="240747"/>
                    </a:cubicBezTo>
                    <a:lnTo>
                      <a:pt x="73736" y="240747"/>
                    </a:lnTo>
                    <a:cubicBezTo>
                      <a:pt x="49255" y="240747"/>
                      <a:pt x="29319" y="260666"/>
                      <a:pt x="29319" y="285126"/>
                    </a:cubicBezTo>
                    <a:lnTo>
                      <a:pt x="29319" y="399957"/>
                    </a:lnTo>
                    <a:lnTo>
                      <a:pt x="67140" y="399957"/>
                    </a:lnTo>
                    <a:cubicBezTo>
                      <a:pt x="75202" y="399957"/>
                      <a:pt x="81799" y="406548"/>
                      <a:pt x="81799" y="414603"/>
                    </a:cubicBezTo>
                    <a:cubicBezTo>
                      <a:pt x="81799" y="422659"/>
                      <a:pt x="75202" y="429250"/>
                      <a:pt x="67140" y="429250"/>
                    </a:cubicBezTo>
                    <a:lnTo>
                      <a:pt x="14659" y="429250"/>
                    </a:lnTo>
                    <a:cubicBezTo>
                      <a:pt x="6597" y="429250"/>
                      <a:pt x="0" y="422659"/>
                      <a:pt x="0" y="414603"/>
                    </a:cubicBezTo>
                    <a:lnTo>
                      <a:pt x="0" y="285126"/>
                    </a:lnTo>
                    <a:cubicBezTo>
                      <a:pt x="0" y="260813"/>
                      <a:pt x="11727" y="239282"/>
                      <a:pt x="29758" y="225954"/>
                    </a:cubicBezTo>
                    <a:cubicBezTo>
                      <a:pt x="11727" y="212332"/>
                      <a:pt x="0" y="190801"/>
                      <a:pt x="0" y="166488"/>
                    </a:cubicBezTo>
                    <a:cubicBezTo>
                      <a:pt x="0" y="125477"/>
                      <a:pt x="33277" y="92229"/>
                      <a:pt x="74323" y="92229"/>
                    </a:cubicBezTo>
                    <a:close/>
                    <a:moveTo>
                      <a:pt x="214854" y="30767"/>
                    </a:moveTo>
                    <a:cubicBezTo>
                      <a:pt x="224241" y="30767"/>
                      <a:pt x="233629" y="32085"/>
                      <a:pt x="242576" y="34575"/>
                    </a:cubicBezTo>
                    <a:cubicBezTo>
                      <a:pt x="250350" y="36771"/>
                      <a:pt x="254897" y="44826"/>
                      <a:pt x="252697" y="52587"/>
                    </a:cubicBezTo>
                    <a:cubicBezTo>
                      <a:pt x="250497" y="60349"/>
                      <a:pt x="242430" y="64888"/>
                      <a:pt x="234655" y="62692"/>
                    </a:cubicBezTo>
                    <a:cubicBezTo>
                      <a:pt x="228202" y="60934"/>
                      <a:pt x="221601" y="60056"/>
                      <a:pt x="214854" y="60056"/>
                    </a:cubicBezTo>
                    <a:cubicBezTo>
                      <a:pt x="174810" y="60056"/>
                      <a:pt x="142100" y="92712"/>
                      <a:pt x="142100" y="132838"/>
                    </a:cubicBezTo>
                    <a:cubicBezTo>
                      <a:pt x="142100" y="172817"/>
                      <a:pt x="174810" y="205474"/>
                      <a:pt x="214854" y="205474"/>
                    </a:cubicBezTo>
                    <a:lnTo>
                      <a:pt x="215734" y="205474"/>
                    </a:lnTo>
                    <a:cubicBezTo>
                      <a:pt x="240816" y="205474"/>
                      <a:pt x="264725" y="214700"/>
                      <a:pt x="283353" y="231248"/>
                    </a:cubicBezTo>
                    <a:cubicBezTo>
                      <a:pt x="289367" y="236666"/>
                      <a:pt x="289954" y="245892"/>
                      <a:pt x="284527" y="251896"/>
                    </a:cubicBezTo>
                    <a:cubicBezTo>
                      <a:pt x="279100" y="258047"/>
                      <a:pt x="269859" y="258486"/>
                      <a:pt x="263845" y="253068"/>
                    </a:cubicBezTo>
                    <a:cubicBezTo>
                      <a:pt x="250644" y="241352"/>
                      <a:pt x="233482" y="234762"/>
                      <a:pt x="215734" y="234762"/>
                    </a:cubicBezTo>
                    <a:lnTo>
                      <a:pt x="213974" y="234762"/>
                    </a:lnTo>
                    <a:cubicBezTo>
                      <a:pt x="174370" y="234762"/>
                      <a:pt x="142100" y="266980"/>
                      <a:pt x="142100" y="306666"/>
                    </a:cubicBezTo>
                    <a:lnTo>
                      <a:pt x="142100" y="481958"/>
                    </a:lnTo>
                    <a:lnTo>
                      <a:pt x="213533" y="481958"/>
                    </a:lnTo>
                    <a:cubicBezTo>
                      <a:pt x="221601" y="481958"/>
                      <a:pt x="228202" y="488548"/>
                      <a:pt x="228202" y="496603"/>
                    </a:cubicBezTo>
                    <a:cubicBezTo>
                      <a:pt x="228202" y="504657"/>
                      <a:pt x="221601" y="511247"/>
                      <a:pt x="213533" y="511247"/>
                    </a:cubicBezTo>
                    <a:lnTo>
                      <a:pt x="127432" y="511247"/>
                    </a:lnTo>
                    <a:cubicBezTo>
                      <a:pt x="119365" y="511247"/>
                      <a:pt x="112764" y="504657"/>
                      <a:pt x="112764" y="496603"/>
                    </a:cubicBezTo>
                    <a:lnTo>
                      <a:pt x="112764" y="306666"/>
                    </a:lnTo>
                    <a:cubicBezTo>
                      <a:pt x="112764" y="269909"/>
                      <a:pt x="132419" y="237691"/>
                      <a:pt x="161902" y="219972"/>
                    </a:cubicBezTo>
                    <a:cubicBezTo>
                      <a:pt x="132419" y="202106"/>
                      <a:pt x="112764" y="169595"/>
                      <a:pt x="112764" y="132838"/>
                    </a:cubicBezTo>
                    <a:cubicBezTo>
                      <a:pt x="112764" y="76457"/>
                      <a:pt x="158528" y="30767"/>
                      <a:pt x="214854" y="30767"/>
                    </a:cubicBezTo>
                    <a:close/>
                    <a:moveTo>
                      <a:pt x="393896" y="29289"/>
                    </a:moveTo>
                    <a:cubicBezTo>
                      <a:pt x="340067" y="29289"/>
                      <a:pt x="296212" y="73076"/>
                      <a:pt x="296212" y="126822"/>
                    </a:cubicBezTo>
                    <a:cubicBezTo>
                      <a:pt x="296212" y="180567"/>
                      <a:pt x="340067" y="224354"/>
                      <a:pt x="393896" y="224354"/>
                    </a:cubicBezTo>
                    <a:cubicBezTo>
                      <a:pt x="447725" y="224354"/>
                      <a:pt x="491580" y="180567"/>
                      <a:pt x="491580" y="126822"/>
                    </a:cubicBezTo>
                    <a:cubicBezTo>
                      <a:pt x="491580" y="73076"/>
                      <a:pt x="447725" y="29289"/>
                      <a:pt x="393896" y="29289"/>
                    </a:cubicBezTo>
                    <a:close/>
                    <a:moveTo>
                      <a:pt x="393896" y="0"/>
                    </a:moveTo>
                    <a:cubicBezTo>
                      <a:pt x="464005" y="0"/>
                      <a:pt x="520914" y="56967"/>
                      <a:pt x="520914" y="126822"/>
                    </a:cubicBezTo>
                    <a:cubicBezTo>
                      <a:pt x="520914" y="175295"/>
                      <a:pt x="493633" y="217471"/>
                      <a:pt x="453445" y="238852"/>
                    </a:cubicBezTo>
                    <a:cubicBezTo>
                      <a:pt x="493486" y="259941"/>
                      <a:pt x="520914" y="301824"/>
                      <a:pt x="520914" y="350151"/>
                    </a:cubicBezTo>
                    <a:lnTo>
                      <a:pt x="520914" y="593982"/>
                    </a:lnTo>
                    <a:cubicBezTo>
                      <a:pt x="520914" y="602037"/>
                      <a:pt x="514314" y="608627"/>
                      <a:pt x="506247" y="608627"/>
                    </a:cubicBezTo>
                    <a:lnTo>
                      <a:pt x="281545" y="608627"/>
                    </a:lnTo>
                    <a:cubicBezTo>
                      <a:pt x="273478" y="608627"/>
                      <a:pt x="266878" y="602037"/>
                      <a:pt x="266878" y="593982"/>
                    </a:cubicBezTo>
                    <a:lnTo>
                      <a:pt x="266878" y="350151"/>
                    </a:lnTo>
                    <a:cubicBezTo>
                      <a:pt x="266878" y="301824"/>
                      <a:pt x="294306" y="259941"/>
                      <a:pt x="334347" y="238852"/>
                    </a:cubicBezTo>
                    <a:cubicBezTo>
                      <a:pt x="294159" y="217471"/>
                      <a:pt x="266878" y="175295"/>
                      <a:pt x="266878" y="126822"/>
                    </a:cubicBezTo>
                    <a:cubicBezTo>
                      <a:pt x="266878" y="56967"/>
                      <a:pt x="323787" y="0"/>
                      <a:pt x="39389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243776" tIns="121888" rIns="243776" bIns="121888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1218565">
                  <a:lnSpc>
                    <a:spcPct val="132000"/>
                  </a:lnSpc>
                </a:pPr>
                <a:endParaRPr lang="en-US" sz="9600" dirty="0">
                  <a:solidFill>
                    <a:srgbClr val="5C5C5C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  <p:sp>
          <p:nvSpPr>
            <p:cNvPr id="44" name="ïṧ1ïďe"/>
            <p:cNvSpPr txBox="1"/>
            <p:nvPr/>
          </p:nvSpPr>
          <p:spPr>
            <a:xfrm>
              <a:off x="7974897" y="5033036"/>
              <a:ext cx="3266122" cy="1492771"/>
            </a:xfrm>
            <a:prstGeom prst="rect">
              <a:avLst/>
            </a:prstGeom>
            <a:noFill/>
          </p:spPr>
          <p:txBody>
            <a:bodyPr wrap="square" lIns="120000" tIns="62400" rIns="120000" bIns="62400" rtlCol="0">
              <a:norm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200"/>
              </a:lvl1pPr>
            </a:lstStyle>
            <a:p>
              <a:pPr defTabSz="1218565">
                <a:lnSpc>
                  <a:spcPct val="132000"/>
                </a:lnSpc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AI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根据提供的环境信息，作物种类，反馈给用户相应的种植措施。</a:t>
              </a:r>
            </a:p>
          </p:txBody>
        </p:sp>
        <p:sp>
          <p:nvSpPr>
            <p:cNvPr id="67" name="íślîḓè"/>
            <p:cNvSpPr txBox="1"/>
            <p:nvPr/>
          </p:nvSpPr>
          <p:spPr>
            <a:xfrm>
              <a:off x="8429874" y="3790865"/>
              <a:ext cx="2288540" cy="887095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/>
                  </a:solidFill>
                </a:defRPr>
              </a:lvl1pPr>
            </a:lstStyle>
            <a:p>
              <a:pPr algn="ctr" defTabSz="1218565">
                <a:lnSpc>
                  <a:spcPct val="142000"/>
                </a:lnSpc>
              </a:pPr>
              <a:r>
                <a:rPr lang="en-US" altLang="zh-CN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3.AI</a:t>
              </a:r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提供种植措施</a:t>
              </a:r>
            </a:p>
          </p:txBody>
        </p:sp>
        <p:cxnSp>
          <p:nvCxnSpPr>
            <p:cNvPr id="68" name="直接连接符 67"/>
            <p:cNvCxnSpPr/>
            <p:nvPr>
              <p:custDataLst>
                <p:tags r:id="rId8"/>
              </p:custDataLst>
            </p:nvPr>
          </p:nvCxnSpPr>
          <p:spPr>
            <a:xfrm>
              <a:off x="7619455" y="3889781"/>
              <a:ext cx="0" cy="1740800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21945" y="323850"/>
            <a:ext cx="11511280" cy="6210935"/>
            <a:chOff x="536" y="578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78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826" y="1018"/>
              <a:ext cx="7434" cy="1224"/>
              <a:chOff x="826" y="1018"/>
              <a:chExt cx="7434" cy="1224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826" y="1018"/>
                <a:ext cx="4141" cy="12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   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优化种植措施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765175" y="1283970"/>
            <a:ext cx="446151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AI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对当前的环境信息进行分析，并直接提供适合作物生长的种植措施，供给用户作为参考。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99045" y="5916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部分代码展示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115" y="626745"/>
            <a:ext cx="5570220" cy="49098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2482215"/>
            <a:ext cx="5097145" cy="2949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40360" y="323850"/>
            <a:ext cx="11511280" cy="6210935"/>
            <a:chOff x="536" y="578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78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13" y="1018"/>
              <a:ext cx="7147" cy="725"/>
              <a:chOff x="1113" y="1018"/>
              <a:chExt cx="7147" cy="725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113" y="1018"/>
                <a:ext cx="356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   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病虫害处理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518160" y="1283970"/>
            <a:ext cx="483235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在该部分，使用SQLite数据库来存储病虫害的处理方法。创建了一个名为pest_disease_methods.db的SQLite数据库，并向其中的pest_disease_methods表中插入了一些病虫害处理方法的数据。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用户可以通过输入遇到的病虫害的名称，获取相应的解决措施和预防措施。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599045" y="5916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部分代码展示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405" y="626745"/>
            <a:ext cx="4344670" cy="48907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4180205"/>
            <a:ext cx="4726940" cy="2529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-100330" y="323850"/>
            <a:ext cx="11951970" cy="6210935"/>
            <a:chOff x="-158" y="578"/>
            <a:chExt cx="18822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78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-158" y="1018"/>
              <a:ext cx="8418" cy="725"/>
              <a:chOff x="-158" y="1018"/>
              <a:chExt cx="8418" cy="725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-158" y="1018"/>
                <a:ext cx="6108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       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自定义可视化模块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630555" y="1216025"/>
            <a:ext cx="4832350" cy="30803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在该部分，用户可以通过选定已保存的数据，进行自定义的可视化分析，用于了解农业数据的变化情况</a:t>
            </a:r>
          </a:p>
        </p:txBody>
      </p:sp>
      <p:pic>
        <p:nvPicPr>
          <p:cNvPr id="4" name="图片 3" descr="37b22a49183b6607744e8848c0b51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2804160"/>
            <a:ext cx="4548505" cy="2740660"/>
          </a:xfrm>
          <a:prstGeom prst="rect">
            <a:avLst/>
          </a:prstGeom>
        </p:spPr>
      </p:pic>
      <p:pic>
        <p:nvPicPr>
          <p:cNvPr id="5" name="图片 4" descr="ce8d531c4bb96707939179495c14f6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905" y="933450"/>
            <a:ext cx="6139815" cy="416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5497195" y="1910715"/>
            <a:ext cx="1197610" cy="120269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69875" tIns="136525" rIns="269875" bIns="136525" rtlCol="0" anchor="ctr" anchorCtr="1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3</a:t>
            </a:r>
          </a:p>
        </p:txBody>
      </p:sp>
      <p:sp>
        <p:nvSpPr>
          <p:cNvPr id="5" name="矩形 4"/>
          <p:cNvSpPr/>
          <p:nvPr/>
        </p:nvSpPr>
        <p:spPr>
          <a:xfrm>
            <a:off x="4632757" y="3336357"/>
            <a:ext cx="2926080" cy="92202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项目亮点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40360" y="323215"/>
            <a:ext cx="11511280" cy="6210935"/>
            <a:chOff x="536" y="509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509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34"/>
              <a:ext cx="10575" cy="725"/>
              <a:chOff x="1120" y="934"/>
              <a:chExt cx="10575" cy="725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1925" y="934"/>
                <a:ext cx="9770" cy="7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1.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使用</a:t>
                </a: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streamlit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建立网页及用户交互功能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7" name="矩形 6"/>
          <p:cNvSpPr/>
          <p:nvPr/>
        </p:nvSpPr>
        <p:spPr>
          <a:xfrm>
            <a:off x="811530" y="2087245"/>
            <a:ext cx="10541635" cy="372681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5390" y="2516505"/>
            <a:ext cx="509841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indent="0" algn="l" fontAlgn="auto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streamlit</a:t>
            </a: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的使用</a:t>
            </a:r>
            <a:endParaRPr lang="zh-CN" sz="1600" dirty="0">
              <a:solidFill>
                <a:schemeClr val="bg1"/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indent="457200" algn="l" fontAlgn="auto">
              <a:lnSpc>
                <a:spcPct val="100000"/>
              </a:lnSpc>
            </a:pPr>
            <a:endParaRPr sz="1600" dirty="0">
              <a:solidFill>
                <a:schemeClr val="bg1"/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该项目通过</a:t>
            </a:r>
            <a:r>
              <a:rPr lang="en-US" altLang="zh-CN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streamlit</a:t>
            </a: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建立界面简洁的网页，并整合了实时监测、数据可视化、智能回答等多个功能，涵盖大棚管理中的各个方面。为系统提供了交互式的用户界面，用户可以通过输入框、按钮等方式与系统进行交互，方便快捷地获取所需信息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332865" y="2923540"/>
            <a:ext cx="9442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7bf4c4058a3b4080e6c1a3e2d0005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805" y="2625090"/>
            <a:ext cx="4850130" cy="24504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40360" y="267970"/>
            <a:ext cx="11511280" cy="6210935"/>
            <a:chOff x="536" y="422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422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15"/>
              <a:ext cx="7140" cy="762"/>
              <a:chOff x="1120" y="915"/>
              <a:chExt cx="7140" cy="762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3325" y="915"/>
                <a:ext cx="2513" cy="762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2.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调入讯飞星火</a:t>
                </a: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AI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大模型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7" name="矩形 6"/>
          <p:cNvSpPr/>
          <p:nvPr/>
        </p:nvSpPr>
        <p:spPr>
          <a:xfrm>
            <a:off x="811530" y="2124075"/>
            <a:ext cx="10541635" cy="372681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5390" y="2516505"/>
            <a:ext cx="5098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AI</a:t>
            </a: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的调入</a:t>
            </a:r>
            <a:endParaRPr lang="en-US" altLang="zh-CN" sz="1600" dirty="0">
              <a:solidFill>
                <a:schemeClr val="bg1"/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indent="0" algn="l" fontAlgn="auto">
              <a:lnSpc>
                <a:spcPct val="100000"/>
              </a:lnSpc>
            </a:pPr>
            <a:endParaRPr lang="en-US" altLang="zh-CN" sz="1600" dirty="0">
              <a:solidFill>
                <a:schemeClr val="bg1"/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该项目实现了农业管理与人工智能的结合，依赖于AI模型的自然语言处理和生成能力，通过与用户的交互，实现了智能问答和优化种植方案的功能。这样的整合为用户提供了更加智能、便捷的大棚管理体验。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332865" y="2923540"/>
            <a:ext cx="9442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/>
          <p:cNvSpPr/>
          <p:nvPr/>
        </p:nvSpPr>
        <p:spPr>
          <a:xfrm>
            <a:off x="6958334" y="2285365"/>
            <a:ext cx="3403592" cy="3403592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2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340360" y="267970"/>
            <a:ext cx="11511280" cy="6210935"/>
            <a:chOff x="536" y="422"/>
            <a:chExt cx="18128" cy="9781"/>
          </a:xfrm>
        </p:grpSpPr>
        <p:sp>
          <p:nvSpPr>
            <p:cNvPr id="40" name="对角圆角矩形 39"/>
            <p:cNvSpPr/>
            <p:nvPr/>
          </p:nvSpPr>
          <p:spPr>
            <a:xfrm flipH="1">
              <a:off x="536" y="422"/>
              <a:ext cx="18128" cy="9781"/>
            </a:xfrm>
            <a:prstGeom prst="round2Diag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20" y="915"/>
              <a:ext cx="7140" cy="754"/>
              <a:chOff x="1120" y="915"/>
              <a:chExt cx="7140" cy="754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3325" y="915"/>
                <a:ext cx="1422" cy="754"/>
              </a:xfrm>
              <a:prstGeom prst="rect">
                <a:avLst/>
              </a:prstGeom>
            </p:spPr>
            <p:txBody>
              <a:bodyPr wrap="none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00000"/>
                  </a:lnSpc>
                </a:pPr>
                <a:r>
                  <a:rPr lang="en-US" altLang="zh-CN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3.SQL</a:t>
                </a:r>
                <a:r>
                  <a:rPr lang="zh-CN" altLang="en-US" sz="2400" spc="1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汉仪大宋简" pitchFamily="49" charset="-122"/>
                    <a:ea typeface="汉仪大宋简" pitchFamily="49" charset="-122"/>
                    <a:cs typeface="+mn-ea"/>
                    <a:sym typeface="字魂45号-冰宇雅宋" panose="00000500000000000000" pitchFamily="2" charset="-122"/>
                  </a:rPr>
                  <a:t>数据库的使用</a:t>
                </a: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7772" y="1055"/>
                <a:ext cx="488" cy="4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endPara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1120" y="1018"/>
                <a:ext cx="543" cy="55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endParaRPr>
              </a:p>
            </p:txBody>
          </p:sp>
        </p:grpSp>
      </p:grpSp>
      <p:sp>
        <p:nvSpPr>
          <p:cNvPr id="7" name="矩形 6"/>
          <p:cNvSpPr/>
          <p:nvPr/>
        </p:nvSpPr>
        <p:spPr>
          <a:xfrm>
            <a:off x="811530" y="2124075"/>
            <a:ext cx="10541635" cy="372681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5390" y="2516505"/>
            <a:ext cx="509841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SQL</a:t>
            </a: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的使用</a:t>
            </a:r>
            <a:endParaRPr lang="en-US" altLang="zh-CN" sz="1600" dirty="0">
              <a:solidFill>
                <a:schemeClr val="bg1"/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indent="0" algn="l" fontAlgn="auto">
              <a:lnSpc>
                <a:spcPct val="100000"/>
              </a:lnSpc>
            </a:pPr>
            <a:endParaRPr lang="en-US" altLang="zh-CN" sz="1600" dirty="0">
              <a:solidFill>
                <a:schemeClr val="bg1"/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  <a:p>
            <a:pPr indent="0" algn="l" fontAlgn="auto">
              <a:lnSpc>
                <a:spcPct val="10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SQLite</a:t>
            </a:r>
            <a:r>
              <a:rPr lang="zh-CN" altLang="en-US" sz="16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采用表格形式存储病虫害数据，能够将数据结构化存储，便于组织和管理数据。支持事务处理，能够确保数据的一致性和完整性，避免数据冗余和不一致的情况。同时SQL数据库系统具有良好的扩展性，可以方便地扩展存储容量和提升系统性能，以适应不断增长的数据量和用户需求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332865" y="2923540"/>
            <a:ext cx="9442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图片 97" descr="F:\电脑其他项\千图网素材作品合集\下载素材\千图网-办公室桌面的文具用品\预览图_千图网_编号35042793.jpg预览图_千图网_编号3504279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69760" y="2780030"/>
            <a:ext cx="3553460" cy="2221230"/>
          </a:xfrm>
          <a:custGeom>
            <a:avLst/>
            <a:gdLst>
              <a:gd name="connsiteX0" fmla="*/ 0 w 4057650"/>
              <a:gd name="connsiteY0" fmla="*/ 0 h 4014787"/>
              <a:gd name="connsiteX1" fmla="*/ 4057650 w 4057650"/>
              <a:gd name="connsiteY1" fmla="*/ 0 h 4014787"/>
              <a:gd name="connsiteX2" fmla="*/ 4057650 w 4057650"/>
              <a:gd name="connsiteY2" fmla="*/ 4014787 h 4014787"/>
              <a:gd name="connsiteX3" fmla="*/ 0 w 4057650"/>
              <a:gd name="connsiteY3" fmla="*/ 4014787 h 401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7650" h="4014787">
                <a:moveTo>
                  <a:pt x="0" y="0"/>
                </a:moveTo>
                <a:lnTo>
                  <a:pt x="4057650" y="0"/>
                </a:lnTo>
                <a:lnTo>
                  <a:pt x="4057650" y="4014787"/>
                </a:lnTo>
                <a:lnTo>
                  <a:pt x="0" y="4014787"/>
                </a:lnTo>
                <a:close/>
              </a:path>
            </a:pathLst>
          </a:cu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003635" y="2335855"/>
            <a:ext cx="184730" cy="98610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2000"/>
              </a:lnSpc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9590" y="2220595"/>
            <a:ext cx="880491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rPr>
              <a:t>感谢聆听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446269" y="4864735"/>
            <a:ext cx="3298826" cy="356870"/>
            <a:chOff x="4675851" y="4145223"/>
            <a:chExt cx="2923700" cy="452989"/>
          </a:xfrm>
        </p:grpSpPr>
        <p:sp>
          <p:nvSpPr>
            <p:cNvPr id="7" name="矩形: 圆角 12"/>
            <p:cNvSpPr/>
            <p:nvPr/>
          </p:nvSpPr>
          <p:spPr>
            <a:xfrm>
              <a:off x="4675851" y="4145223"/>
              <a:ext cx="1380269" cy="452989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1200" dirty="0">
                  <a:solidFill>
                    <a:schemeClr val="bg1"/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汇报人：李诺贤</a:t>
              </a:r>
              <a:endParaRPr lang="en-US" altLang="zh-CN" sz="1200" dirty="0">
                <a:solidFill>
                  <a:schemeClr val="bg1"/>
                </a:solidFill>
                <a:latin typeface="汉仪大宋简" pitchFamily="49" charset="-122"/>
                <a:ea typeface="汉仪大宋简" pitchFamily="49" charset="-122"/>
                <a:cs typeface="+mn-ea"/>
                <a:sym typeface="字魂45号-冰宇雅宋" panose="00000500000000000000" pitchFamily="2" charset="-122"/>
              </a:endParaRPr>
            </a:p>
          </p:txBody>
        </p:sp>
        <p:sp>
          <p:nvSpPr>
            <p:cNvPr id="9" name="矩形: 圆角 13"/>
            <p:cNvSpPr/>
            <p:nvPr/>
          </p:nvSpPr>
          <p:spPr>
            <a:xfrm>
              <a:off x="6342276" y="4145223"/>
              <a:ext cx="1257275" cy="452989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时间：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汉仪大宋简" pitchFamily="49" charset="-122"/>
                  <a:ea typeface="汉仪大宋简" pitchFamily="49" charset="-122"/>
                  <a:cs typeface="+mn-ea"/>
                  <a:sym typeface="字魂45号-冰宇雅宋" panose="00000500000000000000" pitchFamily="2" charset="-122"/>
                </a:rPr>
                <a:t>24.7.20</a:t>
              </a:r>
            </a:p>
          </p:txBody>
        </p:sp>
      </p:grpSp>
      <p:sp>
        <p:nvSpPr>
          <p:cNvPr id="17" name="文本占位符 16"/>
          <p:cNvSpPr txBox="1"/>
          <p:nvPr/>
        </p:nvSpPr>
        <p:spPr>
          <a:xfrm>
            <a:off x="4175760" y="346075"/>
            <a:ext cx="6266180" cy="48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r" defTabSz="9137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  <a:spcBef>
                <a:spcPts val="0"/>
              </a:spcBef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汉仪大宋简" pitchFamily="49" charset="-122"/>
              <a:ea typeface="汉仪大宋简" pitchFamily="49" charset="-122"/>
              <a:cs typeface="+mn-ea"/>
              <a:sym typeface="字魂45号-冰宇雅宋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>
        <p:random/>
      </p:transition>
    </mc:Choice>
    <mc:Fallback xmlns="">
      <p:transition spd="slow" advTm="1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FkYjg1MTEwYTkxMGQxY2U5Y2JkY2NjOTJjZDUzZ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6.9325196850394,&quot;left&quot;:26.32259842519685,&quot;top&quot;:166.64307086614173,&quot;width&quot;:861.577401574803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2,&quot;left&quot;:222.55,&quot;top&quot;:142.15,&quot;width&quot;:558.1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2,&quot;left&quot;:222.55,&quot;top&quot;:142.15,&quot;width&quot;:558.1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2,&quot;left&quot;:222.55,&quot;top&quot;:142.15,&quot;width&quot;:558.1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93.2,&quot;left&quot;:222.55,&quot;top&quot;:142.15,&quot;width&quot;:558.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2.4,&quot;left&quot;:173.4,&quot;top&quot;:195.3,&quot;width&quot;:676.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CRIPT_ID" val="2"/>
  <p:tag name="KSO_WM_TEMPLATE_CATEGORY" val="single"/>
  <p:tag name="KSO_WM_SLIDE_INDEX" val="11"/>
  <p:tag name="KSO_WM_TEMPLATE_TOPIC_ID" val="2450651"/>
  <p:tag name="KSO_WM_TEMPLATE_OUTLINE_ID" val="0"/>
  <p:tag name="KSO_WM_TEMPLATE_INDEX" val="0"/>
  <p:tag name="KSO_WM_SLIDE_ID" val="single0_11"/>
  <p:tag name="KSO_WM_SLIDE_TYPE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944b901-a08d-4342-b02c-d36208ad4c57"/>
  <p:tag name="KSO_WM_DIAGRAM_VIRTUALLY_FRAME" val="{&quot;height&quot;:264.1497637795275,&quot;left&quot;:43.999921259842516,&quot;top&quot;:197.81181102362206,&quot;width&quot;:855.605039370078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4.1497637795275,&quot;left&quot;:43.999921259842516,&quot;top&quot;:197.81181102362206,&quot;width&quot;:855.605039370078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2658C"/>
      </a:accent1>
      <a:accent2>
        <a:srgbClr val="4DA3D3"/>
      </a:accent2>
      <a:accent3>
        <a:srgbClr val="5E5E5E"/>
      </a:accent3>
      <a:accent4>
        <a:srgbClr val="797979"/>
      </a:accent4>
      <a:accent5>
        <a:srgbClr val="A5A5A5"/>
      </a:accent5>
      <a:accent6>
        <a:srgbClr val="C9C9C9"/>
      </a:accent6>
      <a:hlink>
        <a:srgbClr val="22658C"/>
      </a:hlink>
      <a:folHlink>
        <a:srgbClr val="BFBFBF"/>
      </a:folHlink>
    </a:clrScheme>
    <a:fontScheme name="e3mfxw4w">
      <a:majorFont>
        <a:latin typeface="Source Han Sans K"/>
        <a:ea typeface="Source Han Sans K"/>
        <a:cs typeface=""/>
      </a:majorFont>
      <a:minorFont>
        <a:latin typeface="Source Han Sans K"/>
        <a:ea typeface="Source Han Sans 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1001</Words>
  <Application>Microsoft Office PowerPoint</Application>
  <PresentationFormat>宽屏</PresentationFormat>
  <Paragraphs>99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Source Han Sans K</vt:lpstr>
      <vt:lpstr>等线</vt:lpstr>
      <vt:lpstr>汉仪大宋简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诺贤 李</cp:lastModifiedBy>
  <cp:revision>51</cp:revision>
  <dcterms:created xsi:type="dcterms:W3CDTF">2020-05-12T02:06:00Z</dcterms:created>
  <dcterms:modified xsi:type="dcterms:W3CDTF">2024-07-20T02:44:57Z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9B6753B848D34613903A3B1BA265690A_12</vt:lpwstr>
  </property>
  <property fmtid="{D5CDD505-2E9C-101B-9397-08002B2CF9AE}" pid="3" name="KSOProductBuildVer">
    <vt:lpwstr>2052-12.1.0.17147</vt:lpwstr>
  </property>
</Properties>
</file>